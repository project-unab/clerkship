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1pPr>
    <a:lvl2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2pPr>
    <a:lvl3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3pPr>
    <a:lvl4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4pPr>
    <a:lvl5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5pPr>
    <a:lvl6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6pPr>
    <a:lvl7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7pPr>
    <a:lvl8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8pPr>
    <a:lvl9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b="def" i="def"/>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b="def" i="def"/>
      <a:tcStyle>
        <a:tcBdr/>
        <a:fill>
          <a:solidFill>
            <a:srgbClr val="FFFFFF"/>
          </a:solidFill>
        </a:fill>
      </a:tcStyle>
    </a:band2H>
    <a:firstCol>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1" name="Shape 31"/>
          <p:cNvSpPr/>
          <p:nvPr>
            <p:ph type="sldImg"/>
          </p:nvPr>
        </p:nvSpPr>
        <p:spPr>
          <a:xfrm>
            <a:off x="1143000" y="685800"/>
            <a:ext cx="4572000" cy="3429000"/>
          </a:xfrm>
          <a:prstGeom prst="rect">
            <a:avLst/>
          </a:prstGeom>
        </p:spPr>
        <p:txBody>
          <a:bodyPr/>
          <a:lstStyle/>
          <a:p>
            <a:pPr/>
          </a:p>
        </p:txBody>
      </p:sp>
      <p:sp>
        <p:nvSpPr>
          <p:cNvPr id="32" name="Shape 3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311726" latinLnBrk="0">
      <a:lnSpc>
        <a:spcPct val="117999"/>
      </a:lnSpc>
      <a:defRPr sz="1400">
        <a:latin typeface="+mj-lt"/>
        <a:ea typeface="+mj-ea"/>
        <a:cs typeface="+mj-cs"/>
        <a:sym typeface="Helvetica Neue"/>
      </a:defRPr>
    </a:lvl1pPr>
    <a:lvl2pPr indent="228600" defTabSz="311726" latinLnBrk="0">
      <a:lnSpc>
        <a:spcPct val="117999"/>
      </a:lnSpc>
      <a:defRPr sz="1400">
        <a:latin typeface="+mj-lt"/>
        <a:ea typeface="+mj-ea"/>
        <a:cs typeface="+mj-cs"/>
        <a:sym typeface="Helvetica Neue"/>
      </a:defRPr>
    </a:lvl2pPr>
    <a:lvl3pPr indent="457200" defTabSz="311726" latinLnBrk="0">
      <a:lnSpc>
        <a:spcPct val="117999"/>
      </a:lnSpc>
      <a:defRPr sz="1400">
        <a:latin typeface="+mj-lt"/>
        <a:ea typeface="+mj-ea"/>
        <a:cs typeface="+mj-cs"/>
        <a:sym typeface="Helvetica Neue"/>
      </a:defRPr>
    </a:lvl3pPr>
    <a:lvl4pPr indent="685800" defTabSz="311726" latinLnBrk="0">
      <a:lnSpc>
        <a:spcPct val="117999"/>
      </a:lnSpc>
      <a:defRPr sz="1400">
        <a:latin typeface="+mj-lt"/>
        <a:ea typeface="+mj-ea"/>
        <a:cs typeface="+mj-cs"/>
        <a:sym typeface="Helvetica Neue"/>
      </a:defRPr>
    </a:lvl4pPr>
    <a:lvl5pPr indent="914400" defTabSz="311726" latinLnBrk="0">
      <a:lnSpc>
        <a:spcPct val="117999"/>
      </a:lnSpc>
      <a:defRPr sz="1400">
        <a:latin typeface="+mj-lt"/>
        <a:ea typeface="+mj-ea"/>
        <a:cs typeface="+mj-cs"/>
        <a:sym typeface="Helvetica Neue"/>
      </a:defRPr>
    </a:lvl5pPr>
    <a:lvl6pPr indent="1143000" defTabSz="311726" latinLnBrk="0">
      <a:lnSpc>
        <a:spcPct val="117999"/>
      </a:lnSpc>
      <a:defRPr sz="1400">
        <a:latin typeface="+mj-lt"/>
        <a:ea typeface="+mj-ea"/>
        <a:cs typeface="+mj-cs"/>
        <a:sym typeface="Helvetica Neue"/>
      </a:defRPr>
    </a:lvl6pPr>
    <a:lvl7pPr indent="1371600" defTabSz="311726" latinLnBrk="0">
      <a:lnSpc>
        <a:spcPct val="117999"/>
      </a:lnSpc>
      <a:defRPr sz="1400">
        <a:latin typeface="+mj-lt"/>
        <a:ea typeface="+mj-ea"/>
        <a:cs typeface="+mj-cs"/>
        <a:sym typeface="Helvetica Neue"/>
      </a:defRPr>
    </a:lvl7pPr>
    <a:lvl8pPr indent="1600200" defTabSz="311726" latinLnBrk="0">
      <a:lnSpc>
        <a:spcPct val="117999"/>
      </a:lnSpc>
      <a:defRPr sz="1400">
        <a:latin typeface="+mj-lt"/>
        <a:ea typeface="+mj-ea"/>
        <a:cs typeface="+mj-cs"/>
        <a:sym typeface="Helvetica Neue"/>
      </a:defRPr>
    </a:lvl8pPr>
    <a:lvl9pPr indent="1828800" defTabSz="311726" latinLnBrk="0">
      <a:lnSpc>
        <a:spcPct val="117999"/>
      </a:lnSpc>
      <a:defRPr sz="14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Saludo y presentación del equipo. Una frase: Clerkship es un consultorio de práctica con pacientes virtuales que conversan, se examinan y califican el razonamiento del estudiante, no solo su diagnóstico final.</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Los errores diagnósticos son una fuente mayor de daño evitable, y en tres de cada cuatro hay un fallo de razonamiento. Sin embargo, el razonamiento se aprende por imitación, con poca retroalimentación. En la UNAB no hay un espacio curricular para entrenarlo, y los simuladores disponibles evalúan el diagnóstico final, están en inglés y cuestan licencias altas.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Pregunta problema: ¿cómo contribuir al entrenamiento y la evaluación del razonamiento clínico-diagnóstico en estudiantes de la UNAB con un prototipo de casos clínicos basado en IA? El objetivo general se cumple con cuatro objetivos específicos: caracterizar, diseñar, implementar y evaluar. Hoy los tres primeros están cumplidos y el cuarto está en curso: las métricas técnicas ya se midieron y la validación por expertos tiene su instrumento listo.</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Clerkship tiene tres pilares. El simulador es el núcleo: un paciente que no existe, generado por IA, con el que el estudiante conversa y al que examina. Alrededor hay un aula virtual tipo Moodle para que el docente organice su curso, y una biblioteca con 433 recursos de gastroenterología de acceso abierto. Además cada usuario tiene una nube personal, hay un panel de administración y un portal para que los expertos validen la plataforma.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El navegador carga la aplicación React desde Vercel. Todo pasa por la API en Flask, empaquetada en Docker y desplegada en Google Cloud Run, que se publica sola en cada push a main. Detrás hay persistencia políglota: PostgreSQL en Supabase para usuarios, roles, cursos y notas; MongoDB Atlas para las conversaciones y evaluaciones del simulador; Cloudflare R2 para archivos, con enlaces firmados. Los servicios externos son la API de Gemini para los agentes, Mailgun para los correos y Gotenberg para convertir documentos de Office a PDF.</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El frontend es una aplicación de página única en React 19 con TypeScript: el tipado evita errores silenciosos en estructuras complejas como el caso clínico o el desglose del puntaje. Se compila con Vite y usa React Router 7, con guardas por rol y por consentimiento. Los estilos son CSS propio por módulo, sin framework, con la paleta de Clerkship y modo claro y oscuro. Documentos, hojas de cálculo y PDF se ven en el navegador. Con carga diferida de rutas, el paquete inicial bajó de 3,1 MB a unos 200 KB. Hay pruebas de extremo a extremo con Playwright por cada rol.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El backend es Flask organizado en blueprints por dominio. Todo cuerpo de petición se valida con modelos Pydantic v2 antes de ejecutar lógica. Los datos relacionales se manejan con SQLAlchemy y los cambios de esquema con Alembic: todas las migraciones son aditivas y tienen un espejo en SQL. Cada ruta está documentada en OpenAPI y una prueba falla si alguna queda sin documentar. La suite tiene 848 pruebas aprobadas y 10 omitidas. Un script inventaría las 216 rutas y una prueba falla si aparece una sin rol o sin validación de propiedad.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 sesión usa dos tokens JWT, uno de acceso que vence pronto y uno de renovación. A diferencia de un JWT común, en cada petición se comprueba si el token fue revocado, si la cuenta sigue activa y si el rol del token es el rol actual; cambiar la contraseña o el rol corta todas las sesiones. Además del rol, cada ruta comprueba que el recurso sea de quien lo pide. Hay límites de peticiones por IP y por cuenta. Las contraseñas se guardan con hash; el HTML que escriben los usuarios se sanitiza dos veces. Por la Ley 1581, el consentimiento queda registrado con fecha y versión en el servidor, y cada usuario puede descargar sus datos. El registro exige el correo institucional.</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Esta es la idea central del proyecto. Usamos IA generativa para lo que hace bien: escribir un caso clínico coherente, conversar como un paciente y clasificar lo que hizo el estudiante frente a una rúbrica. Pero lo que debe ser confiable, como la nota o que el paciente no revele su diagnóstico, lo resuelven reglas programadas y auditables, no el modelo. No entrenamos ningún modelo: consumimos la API de Gemini con instrucciones especializadas.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El Agente 1 interviene una vez: recibe el subtema y la dificultad, que puede elegir el estudiante o la selección adaptativa según su desempeño, y escribe el caso completo en JSON con antecedentes, síntomas, signos vitales, hallazgos y datos ocultos, además del diagnóstico real y la rúbrica. El backend valida su forma. El Agente 2 es el paciente: en cada turno recibe sus instrucciones y la conversación, porque el modelo no tiene memoria, y responde sin saber su diagnóstico. El Agente 3 interviene al cerrar: compara la consulta con la rúbrica y clasifica, pero no pone nota. Los hallazgos del examen físico y de los paraclínicos los escribe el generador al crear el caso; cuando el estudiante los pide, el sistema los lee del caso sin volver a llamar al modelo, así que responden al instante, son consistentes y no gastan tokens. Si la maniobra toca al paciente, el Agente 2 reacciona en el chat.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Así se ve una consulta. En el centro está el chat con el paciente virtual, que en la mayoría de los casos entra diciendo su motivo de consulta, como pidió el docente. A la izquierda el estudiante elige maniobras del examen físico y ve los hallazgos; a la derecha quedan sus notas de la anamnesis. Puede pedir paraclínicos. Cuando termina, escribe su diagnóstico presuntivo, sus diferenciales y su plan, y recibe la nota con la retroalimentación. Después, en el historial, puede releer la conversación completa y ver el diagnóstico real.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 nota no la decide el modelo. El evaluador entrega una clasificación: qué preguntas clave cubrió, qué hallazgos indagó, qué tan concordante es la hipótesis (alta, media, baja o nula), qué diferenciales faltaron, cómo fue el plan. Una fórmula fija en scoring.py lo convierte en puntaje con cinco dimensiones: anamnesis 30 %, razonamiento 25 %, hallazgos 20 %, examen y paraclínicos 15 % y comunicación 10 %. Dentro del razonamiento, la hipótesis pesa 60 %, los diferenciales 25 % y el plan 15 %. Así la nota es reproducible y se puede auditar, y eso es lo que permite medir su consistencia.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Alrededor del modelo hay reglas que no dependen de él. Cada respuesta del paciente pasa por dos guardas: si menciona el diagnóstico, o si rompe el personaje, por ejemplo diciendo que es una IA, se reemplaza. El caso que escribe el generador se valida campo por campo. Y para la latencia: medimos cada modelo, el que estaba configurado tardaba unos 30 segundos por respuesta, así que rehicimos la cadena: Gemini 3.6 Flash como principal y cuatro respaldos, con tiempo máximo por intento y por agente, y una pausa de 60 segundos al modelo que agota su cuota. La evaluación pasó de unos 100 segundos a menos de 10.</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Medimos con los agentes reales las variables técnicas de la sección 7.5. Robustez: 24 mensajes preparados para sacarle el diagnóstico al paciente o sacarlo de su papel; en el 100 % no lo logramos. Consistencia: cinco consultas evaluadas tres veces con el mismo cierre; las cinco variaron 10 puntos o menos, cuatro dieron el mismo puntaje y la quinta varió 6. Latencia: percentil 90 de 4,7 segundos en el chat (53 turnos) y 8,0 en la evaluación (15 evaluaciones). Reservas: la corrida la atendieron los modelos ligeros porque se agotó la cuota gratuita, la detección de fuga busca el nombre del diagnóstico y los mensajes los preparó el equipo.</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Alrededor del simulador construimos lo que necesita un curso real. El docente crea su curso, lo organiza en módulos y publica documentos, videos, tareas, cuestionarios y avisos; califica con rúbrica y exporta las notas. Cada tarea tiene una conversación privada entre docente y estudiante. La biblioteca tiene 433 recursos de acceso abierto con visor, lápiz, notas, favoritos y copia a la nube personal. Y la vista de seguimiento le muestra al docente cómo le va a cada estudiante en el simulador, por subtema y por dimensión, con alerta para quien está por debajo de 60.</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Para la validez de contenido construimos un portal: el administrador invita a cada profesional con un enlace personal, sin que cree cuenta. El experto califica 32 ítems de 1 a 4 sobre cuatro secciones y da un juicio de aplicabilidad. Con eso calculamos la V de Aiken con su intervalo de confianza, el I-CVI y el S-CVI. Además el experto revisa consultas reales, anonimizadas: primero fija su propio puntaje de 0 a 100 sin ver el de la plataforma, y después califica ocho criterios. Así medimos la concordancia con Bland-Altman. Somos honestos: a hoy no hay respuestas reales; es la prioridad de la etapa final.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Somos claros con los límites. Primero, la referencia con la que se califica la escribe el mismo modelo que genera el caso; por eso la revisión de casos por expertos es clave. Segundo, la búsqueda vectorial prevista en el anteproyecto no se implementó: el sistema admite referencias clínicas por subtema y ya hay una herramienta para cargarlas, pero falta el contenido curado. Tercero, con la cuota gratuita de Gemini las llamadas simultáneas pasan a modelos ligeros; para un grupo grande se requiere un plan pago. Los siguientes pasos son el panel de expertos y las pruebas con estudiantes. La detección de sesgos cognitivos quedó como trabajo futuro.</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Cierre en una frase: Clerkship ya funciona de extremo a extremo, sus metas técnicas se cumplieron y tiene listo el instrumento para que los expertos clínicos lo validen. Agradecer al director, al codirector y al programa de Medicina, y abrir las preguntas.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Portada">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Slide Number"/>
          <p:cNvSpPr txBox="1"/>
          <p:nvPr>
            <p:ph type="sldNum" sz="quarter" idx="2"/>
          </p:nvPr>
        </p:nvSpPr>
        <p:spPr>
          <a:xfrm>
            <a:off x="12044267" y="9167929"/>
            <a:ext cx="295469" cy="27972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erna">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err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 name="Slide Number"/>
          <p:cNvSpPr txBox="1"/>
          <p:nvPr>
            <p:ph type="sldNum" sz="quarter" idx="2"/>
          </p:nvPr>
        </p:nvSpPr>
        <p:spPr>
          <a:xfrm>
            <a:off x="12042371" y="9167929"/>
            <a:ext cx="295469" cy="27972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3653366" y="0"/>
            <a:ext cx="19507201" cy="3673475"/>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chor="b">
            <a:normAutofit fontScale="100000" lnSpcReduction="0"/>
          </a:bodyPr>
          <a:lstStyle/>
          <a:p>
            <a:pPr/>
            <a:r>
              <a:t>Title Text</a:t>
            </a:r>
          </a:p>
        </p:txBody>
      </p:sp>
      <p:sp>
        <p:nvSpPr>
          <p:cNvPr id="3" name="Body Level One…"/>
          <p:cNvSpPr txBox="1"/>
          <p:nvPr>
            <p:ph type="body" idx="1"/>
          </p:nvPr>
        </p:nvSpPr>
        <p:spPr>
          <a:xfrm>
            <a:off x="13610166" y="4876800"/>
            <a:ext cx="9550401" cy="8839200"/>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2042334" y="9167929"/>
            <a:ext cx="295470" cy="279721"/>
          </a:xfrm>
          <a:prstGeom prst="rect">
            <a:avLst/>
          </a:prstGeom>
          <a:ln w="12700">
            <a:miter lim="400000"/>
          </a:ln>
        </p:spPr>
        <p:txBody>
          <a:bodyPr wrap="none" lIns="28405" tIns="28405" rIns="28405" bIns="28405" anchor="b">
            <a:spAutoFit/>
          </a:bodyPr>
          <a:lstStyle>
            <a:lvl1pPr defTabSz="821529">
              <a:defRPr sz="1600">
                <a:solidFill>
                  <a:srgbClr val="000000"/>
                </a:solidFill>
                <a:latin typeface="+mj-lt"/>
                <a:ea typeface="+mj-ea"/>
                <a:cs typeface="+mj-cs"/>
                <a:sym typeface="Helvetica Neue"/>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1pPr>
      <a:lvl2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2pPr>
      <a:lvl3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3pPr>
      <a:lvl4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4pPr>
      <a:lvl5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5pPr>
      <a:lvl6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6pPr>
      <a:lvl7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7pPr>
      <a:lvl8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8pPr>
      <a:lvl9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9pPr>
    </p:titleStyle>
    <p:bodyStyle>
      <a:lvl1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1pPr>
      <a:lvl2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2pPr>
      <a:lvl3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3pPr>
      <a:lvl4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4pPr>
      <a:lvl5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5pPr>
      <a:lvl6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6pPr>
      <a:lvl7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7pPr>
      <a:lvl8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8pPr>
      <a:lvl9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9pPr>
    </p:bodyStyle>
    <p:otherStyle>
      <a:lvl1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1pPr>
      <a:lvl2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2pPr>
      <a:lvl3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3pPr>
      <a:lvl4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4pPr>
      <a:lvl5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5pPr>
      <a:lvl6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6pPr>
      <a:lvl7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7pPr>
      <a:lvl8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8pPr>
      <a:lvl9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clerkship.png"/>
          <p:cNvPicPr>
            <a:picLocks noChangeAspect="1"/>
          </p:cNvPicPr>
          <p:nvPr/>
        </p:nvPicPr>
        <p:blipFill>
          <a:blip r:embed="rId3"/>
          <a:stretch>
            <a:fillRect/>
          </a:stretch>
        </p:blipFill>
        <p:spPr>
          <a:xfrm>
            <a:off x="1651000" y="1524000"/>
            <a:ext cx="1219200" cy="1219200"/>
          </a:xfrm>
          <a:prstGeom prst="rect">
            <a:avLst/>
          </a:prstGeom>
        </p:spPr>
      </p:pic>
      <p:sp>
        <p:nvSpPr>
          <p:cNvPr id="3" name="TextBox 2"/>
          <p:cNvSpPr txBox="1"/>
          <p:nvPr/>
        </p:nvSpPr>
        <p:spPr>
          <a:xfrm>
            <a:off x="3124200" y="1625600"/>
            <a:ext cx="8890000" cy="1016000"/>
          </a:xfrm>
          <a:prstGeom prst="rect">
            <a:avLst/>
          </a:prstGeom>
          <a:noFill/>
        </p:spPr>
        <p:txBody>
          <a:bodyPr wrap="square" lIns="0" rIns="0" tIns="0" bIns="0" anchor="ctr"/>
          <a:lstStyle/>
          <a:p>
            <a:pPr algn="l">
              <a:lnSpc>
                <a:spcPct val="125000"/>
              </a:lnSpc>
            </a:pPr>
            <a:r>
              <a:rPr sz="6000" b="1">
                <a:solidFill>
                  <a:srgbClr val="111113"/>
                </a:solidFill>
                <a:latin typeface="Open Sans"/>
              </a:rPr>
              <a:t>Clerkship</a:t>
            </a:r>
          </a:p>
        </p:txBody>
      </p:sp>
      <p:sp>
        <p:nvSpPr>
          <p:cNvPr id="4" name="TextBox 3"/>
          <p:cNvSpPr txBox="1"/>
          <p:nvPr/>
        </p:nvSpPr>
        <p:spPr>
          <a:xfrm>
            <a:off x="1651000" y="3810000"/>
            <a:ext cx="1905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PROYECTO DE GRADO II · INGENIERÍA DE SISTEMAS · UNAB</a:t>
            </a:r>
          </a:p>
        </p:txBody>
      </p:sp>
      <p:sp>
        <p:nvSpPr>
          <p:cNvPr id="5" name="TextBox 4"/>
          <p:cNvSpPr txBox="1"/>
          <p:nvPr/>
        </p:nvSpPr>
        <p:spPr>
          <a:xfrm>
            <a:off x="1651000" y="4445000"/>
            <a:ext cx="19812000" cy="2667000"/>
          </a:xfrm>
          <a:prstGeom prst="rect">
            <a:avLst/>
          </a:prstGeom>
          <a:noFill/>
        </p:spPr>
        <p:txBody>
          <a:bodyPr wrap="square" lIns="0" rIns="0" tIns="0" bIns="0" anchor="t"/>
          <a:lstStyle/>
          <a:p>
            <a:pPr algn="l">
              <a:lnSpc>
                <a:spcPct val="100000"/>
              </a:lnSpc>
            </a:pPr>
            <a:r>
              <a:rPr sz="8000" b="1">
                <a:solidFill>
                  <a:srgbClr val="111113"/>
                </a:solidFill>
                <a:latin typeface="OpenSans-ExtraBold"/>
              </a:rPr>
              <a:t>Entrenar el razonamiento clínico con inteligencia artificial</a:t>
            </a:r>
          </a:p>
        </p:txBody>
      </p:sp>
      <p:sp>
        <p:nvSpPr>
          <p:cNvPr id="6" name="TextBox 5"/>
          <p:cNvSpPr txBox="1"/>
          <p:nvPr/>
        </p:nvSpPr>
        <p:spPr>
          <a:xfrm>
            <a:off x="1651000" y="7239000"/>
            <a:ext cx="19050000" cy="1397000"/>
          </a:xfrm>
          <a:prstGeom prst="rect">
            <a:avLst/>
          </a:prstGeom>
          <a:noFill/>
        </p:spPr>
        <p:txBody>
          <a:bodyPr wrap="square" lIns="0" rIns="0" tIns="0" bIns="0" anchor="t"/>
          <a:lstStyle/>
          <a:p>
            <a:pPr algn="l">
              <a:lnSpc>
                <a:spcPct val="125000"/>
              </a:lnSpc>
            </a:pPr>
            <a:r>
              <a:rPr sz="3600" b="0">
                <a:solidFill>
                  <a:srgbClr val="5F5F66"/>
                </a:solidFill>
                <a:latin typeface="Open Sans"/>
              </a:rPr>
              <a:t>Prototipo de simulación de casos de gastroenterología con pacientes virtuales</a:t>
            </a:r>
          </a:p>
        </p:txBody>
      </p:sp>
      <p:sp>
        <p:nvSpPr>
          <p:cNvPr id="7" name="Rectangle 6"/>
          <p:cNvSpPr/>
          <p:nvPr/>
        </p:nvSpPr>
        <p:spPr>
          <a:xfrm>
            <a:off x="1651000" y="8991600"/>
            <a:ext cx="21082000" cy="25400"/>
          </a:xfrm>
          <a:prstGeom prst="rect">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1000" y="9347200"/>
            <a:ext cx="9652000" cy="2540000"/>
          </a:xfrm>
          <a:prstGeom prst="rect">
            <a:avLst/>
          </a:prstGeom>
          <a:noFill/>
        </p:spPr>
        <p:txBody>
          <a:bodyPr wrap="square" lIns="0" rIns="0" tIns="0" bIns="0" anchor="t"/>
          <a:lstStyle/>
          <a:p>
            <a:pPr algn="l">
              <a:lnSpc>
                <a:spcPct val="125000"/>
              </a:lnSpc>
            </a:pPr>
            <a:r>
              <a:rPr sz="2400" b="1" spc="300">
                <a:solidFill>
                  <a:srgbClr val="8E8E94"/>
                </a:solidFill>
                <a:latin typeface="Open Sans"/>
              </a:rPr>
              <a:t>AUTORES</a:t>
            </a:r>
          </a:p>
          <a:p>
            <a:pPr algn="l">
              <a:lnSpc>
                <a:spcPct val="125000"/>
              </a:lnSpc>
              <a:spcBef>
                <a:spcPts val="800"/>
              </a:spcBef>
            </a:pPr>
            <a:r>
              <a:rPr sz="3000" b="0">
                <a:solidFill>
                  <a:srgbClr val="111113"/>
                </a:solidFill>
                <a:latin typeface="Open Sans"/>
              </a:rPr>
              <a:t>Juan Camilo Rojas Guerrero</a:t>
            </a:r>
          </a:p>
          <a:p>
            <a:pPr algn="l">
              <a:lnSpc>
                <a:spcPct val="125000"/>
              </a:lnSpc>
              <a:spcBef>
                <a:spcPts val="0"/>
              </a:spcBef>
            </a:pPr>
            <a:r>
              <a:rPr sz="3000" b="0">
                <a:solidFill>
                  <a:srgbClr val="111113"/>
                </a:solidFill>
                <a:latin typeface="Open Sans"/>
              </a:rPr>
              <a:t>Santiago Steven Arias Estupiñán</a:t>
            </a:r>
          </a:p>
          <a:p>
            <a:pPr algn="l">
              <a:lnSpc>
                <a:spcPct val="125000"/>
              </a:lnSpc>
              <a:spcBef>
                <a:spcPts val="0"/>
              </a:spcBef>
            </a:pPr>
            <a:r>
              <a:rPr sz="3000" b="0">
                <a:solidFill>
                  <a:srgbClr val="111113"/>
                </a:solidFill>
                <a:latin typeface="Open Sans"/>
              </a:rPr>
              <a:t>Camilo Andrés Bueno Rey</a:t>
            </a:r>
          </a:p>
        </p:txBody>
      </p:sp>
      <p:sp>
        <p:nvSpPr>
          <p:cNvPr id="9" name="TextBox 8"/>
          <p:cNvSpPr txBox="1"/>
          <p:nvPr/>
        </p:nvSpPr>
        <p:spPr>
          <a:xfrm>
            <a:off x="12192000" y="9347200"/>
            <a:ext cx="10541000" cy="2540000"/>
          </a:xfrm>
          <a:prstGeom prst="rect">
            <a:avLst/>
          </a:prstGeom>
          <a:noFill/>
        </p:spPr>
        <p:txBody>
          <a:bodyPr wrap="square" lIns="0" rIns="0" tIns="0" bIns="0" anchor="t"/>
          <a:lstStyle/>
          <a:p>
            <a:pPr algn="l">
              <a:lnSpc>
                <a:spcPct val="125000"/>
              </a:lnSpc>
            </a:pPr>
            <a:r>
              <a:rPr sz="2400" b="1" spc="300">
                <a:solidFill>
                  <a:srgbClr val="8E8E94"/>
                </a:solidFill>
                <a:latin typeface="Open Sans"/>
              </a:rPr>
              <a:t>DIRECCIÓN</a:t>
            </a:r>
          </a:p>
          <a:p>
            <a:pPr algn="l">
              <a:lnSpc>
                <a:spcPct val="125000"/>
              </a:lnSpc>
              <a:spcBef>
                <a:spcPts val="800"/>
              </a:spcBef>
            </a:pPr>
            <a:r>
              <a:rPr sz="3000" b="0">
                <a:solidFill>
                  <a:srgbClr val="111113"/>
                </a:solidFill>
                <a:latin typeface="Open Sans"/>
              </a:rPr>
              <a:t>Leonardo Stiven Pardo Niño · Director</a:t>
            </a:r>
          </a:p>
          <a:p>
            <a:pPr algn="l">
              <a:lnSpc>
                <a:spcPct val="125000"/>
              </a:lnSpc>
              <a:spcBef>
                <a:spcPts val="0"/>
              </a:spcBef>
            </a:pPr>
            <a:r>
              <a:rPr sz="3000" b="0">
                <a:solidFill>
                  <a:srgbClr val="111113"/>
                </a:solidFill>
                <a:latin typeface="Open Sans"/>
              </a:rPr>
              <a:t>Luis Felipe Buitrago Castro · Codirector</a:t>
            </a:r>
          </a:p>
          <a:p>
            <a:pPr algn="l">
              <a:lnSpc>
                <a:spcPct val="125000"/>
              </a:lnSpc>
              <a:spcBef>
                <a:spcPts val="800"/>
              </a:spcBef>
            </a:pPr>
            <a:r>
              <a:rPr sz="3000" b="0">
                <a:solidFill>
                  <a:srgbClr val="5F5F66"/>
                </a:solidFill>
                <a:latin typeface="Open Sans"/>
              </a:rPr>
              <a:t>Octubre de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Falta evaluar cómo se razona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EL PROBLEMA</a:t>
            </a:r>
          </a:p>
        </p:txBody>
      </p:sp>
      <p:sp>
        <p:nvSpPr>
          <p:cNvPr id="37" name="Rounded Rectangle 36"/>
          <p:cNvSpPr/>
          <p:nvPr/>
        </p:nvSpPr>
        <p:spPr>
          <a:xfrm>
            <a:off x="1651000" y="4191000"/>
            <a:ext cx="9144000" cy="6604000"/>
          </a:xfrm>
          <a:prstGeom prst="roundRect">
            <a:avLst>
              <a:gd name="adj" fmla="val 3846"/>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60600" y="4800600"/>
            <a:ext cx="7924800" cy="5384800"/>
          </a:xfrm>
          <a:prstGeom prst="rect">
            <a:avLst/>
          </a:prstGeom>
          <a:noFill/>
        </p:spPr>
        <p:txBody>
          <a:bodyPr wrap="square" lIns="0" rIns="0" tIns="0" bIns="0" anchor="t"/>
          <a:lstStyle/>
          <a:p>
            <a:pPr algn="l">
              <a:lnSpc>
                <a:spcPct val="100000"/>
              </a:lnSpc>
            </a:pPr>
            <a:r>
              <a:rPr sz="12000" b="1">
                <a:solidFill>
                  <a:srgbClr val="FFFFFF"/>
                </a:solidFill>
                <a:latin typeface="OpenSans-ExtraBold"/>
              </a:rPr>
              <a:t>75 %</a:t>
            </a:r>
          </a:p>
          <a:p>
            <a:pPr algn="l">
              <a:lnSpc>
                <a:spcPct val="125000"/>
              </a:lnSpc>
              <a:spcBef>
                <a:spcPts val="1600"/>
              </a:spcBef>
            </a:pPr>
            <a:r>
              <a:rPr sz="3200" b="0">
                <a:solidFill>
                  <a:srgbClr val="FFFFFF"/>
                </a:solidFill>
                <a:latin typeface="Open Sans"/>
              </a:rPr>
              <a:t>de los errores diagnósticos tiene un fallo de razonamiento</a:t>
            </a:r>
          </a:p>
          <a:p>
            <a:pPr algn="l">
              <a:lnSpc>
                <a:spcPct val="125000"/>
              </a:lnSpc>
              <a:spcBef>
                <a:spcPts val="2000"/>
              </a:spcBef>
            </a:pPr>
            <a:r>
              <a:rPr sz="2400" b="0">
                <a:solidFill>
                  <a:srgbClr val="BFD9C4"/>
                </a:solidFill>
                <a:latin typeface="Open Sans"/>
              </a:rPr>
              <a:t>Kunitomo et al., 2022; Hunter et al., 2024</a:t>
            </a:r>
          </a:p>
        </p:txBody>
      </p:sp>
      <p:sp>
        <p:nvSpPr>
          <p:cNvPr id="39" name="Rounded Rectangle 38"/>
          <p:cNvSpPr/>
          <p:nvPr/>
        </p:nvSpPr>
        <p:spPr>
          <a:xfrm>
            <a:off x="11303000" y="4191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684000" y="4572000"/>
            <a:ext cx="10668000" cy="1270000"/>
          </a:xfrm>
          <a:prstGeom prst="rect">
            <a:avLst/>
          </a:prstGeom>
          <a:noFill/>
        </p:spPr>
        <p:txBody>
          <a:bodyPr wrap="square" lIns="0" rIns="0" tIns="0" bIns="0" anchor="t"/>
          <a:lstStyle/>
          <a:p>
            <a:pPr algn="l">
              <a:lnSpc>
                <a:spcPct val="125000"/>
              </a:lnSpc>
            </a:pPr>
            <a:r>
              <a:rPr sz="3600" b="1">
                <a:solidFill>
                  <a:srgbClr val="111113"/>
                </a:solidFill>
                <a:latin typeface="Open Sans"/>
              </a:rPr>
              <a:t>Se enseña de forma implícita</a:t>
            </a:r>
          </a:p>
          <a:p>
            <a:pPr algn="l">
              <a:lnSpc>
                <a:spcPct val="125000"/>
              </a:lnSpc>
              <a:spcBef>
                <a:spcPts val="600"/>
              </a:spcBef>
            </a:pPr>
            <a:r>
              <a:rPr sz="2800" b="0">
                <a:solidFill>
                  <a:srgbClr val="5F5F66"/>
                </a:solidFill>
                <a:latin typeface="Open Sans"/>
              </a:rPr>
              <a:t>No hay un espacio para entrenarlo y evaluarlo</a:t>
            </a:r>
          </a:p>
        </p:txBody>
      </p:sp>
      <p:sp>
        <p:nvSpPr>
          <p:cNvPr id="41" name="Rounded Rectangle 40"/>
          <p:cNvSpPr/>
          <p:nvPr/>
        </p:nvSpPr>
        <p:spPr>
          <a:xfrm>
            <a:off x="11303000" y="6477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684000" y="6858000"/>
            <a:ext cx="10668000" cy="1270000"/>
          </a:xfrm>
          <a:prstGeom prst="rect">
            <a:avLst/>
          </a:prstGeom>
          <a:noFill/>
        </p:spPr>
        <p:txBody>
          <a:bodyPr wrap="square" lIns="0" rIns="0" tIns="0" bIns="0" anchor="t"/>
          <a:lstStyle/>
          <a:p>
            <a:pPr algn="l">
              <a:lnSpc>
                <a:spcPct val="125000"/>
              </a:lnSpc>
            </a:pPr>
            <a:r>
              <a:rPr sz="3600" b="1">
                <a:solidFill>
                  <a:srgbClr val="111113"/>
                </a:solidFill>
                <a:latin typeface="Open Sans"/>
              </a:rPr>
              <a:t>Los simuladores miran el final</a:t>
            </a:r>
          </a:p>
          <a:p>
            <a:pPr algn="l">
              <a:lnSpc>
                <a:spcPct val="125000"/>
              </a:lnSpc>
              <a:spcBef>
                <a:spcPts val="600"/>
              </a:spcBef>
            </a:pPr>
            <a:r>
              <a:rPr sz="2800" b="0">
                <a:solidFill>
                  <a:srgbClr val="5F5F66"/>
                </a:solidFill>
                <a:latin typeface="Open Sans"/>
              </a:rPr>
              <a:t>Califican el diagnóstico, no cómo se llegó</a:t>
            </a:r>
          </a:p>
        </p:txBody>
      </p:sp>
      <p:sp>
        <p:nvSpPr>
          <p:cNvPr id="43" name="Rounded Rectangle 42"/>
          <p:cNvSpPr/>
          <p:nvPr/>
        </p:nvSpPr>
        <p:spPr>
          <a:xfrm>
            <a:off x="11303000" y="8763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684000" y="9144000"/>
            <a:ext cx="10668000" cy="1270000"/>
          </a:xfrm>
          <a:prstGeom prst="rect">
            <a:avLst/>
          </a:prstGeom>
          <a:noFill/>
        </p:spPr>
        <p:txBody>
          <a:bodyPr wrap="square" lIns="0" rIns="0" tIns="0" bIns="0" anchor="t"/>
          <a:lstStyle/>
          <a:p>
            <a:pPr algn="l">
              <a:lnSpc>
                <a:spcPct val="125000"/>
              </a:lnSpc>
            </a:pPr>
            <a:r>
              <a:rPr sz="3600" b="1">
                <a:solidFill>
                  <a:srgbClr val="111113"/>
                </a:solidFill>
                <a:latin typeface="Open Sans"/>
              </a:rPr>
              <a:t>Son caros y en inglés</a:t>
            </a:r>
          </a:p>
          <a:p>
            <a:pPr algn="l">
              <a:lnSpc>
                <a:spcPct val="125000"/>
              </a:lnSpc>
              <a:spcBef>
                <a:spcPts val="600"/>
              </a:spcBef>
            </a:pPr>
            <a:r>
              <a:rPr sz="2800" b="0">
                <a:solidFill>
                  <a:srgbClr val="5F5F66"/>
                </a:solidFill>
                <a:latin typeface="Open Sans"/>
              </a:rPr>
              <a:t>Licencias fuera del alcance local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Entrenar y evaluar con IA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OBJETIVO</a:t>
            </a:r>
          </a:p>
        </p:txBody>
      </p:sp>
      <p:sp>
        <p:nvSpPr>
          <p:cNvPr id="37" name="TextBox 36"/>
          <p:cNvSpPr txBox="1"/>
          <p:nvPr/>
        </p:nvSpPr>
        <p:spPr>
          <a:xfrm>
            <a:off x="1651000" y="4064000"/>
            <a:ext cx="21082000" cy="1397000"/>
          </a:xfrm>
          <a:prstGeom prst="rect">
            <a:avLst/>
          </a:prstGeom>
          <a:noFill/>
        </p:spPr>
        <p:txBody>
          <a:bodyPr wrap="square" lIns="0" rIns="0" tIns="0" bIns="0" anchor="t"/>
          <a:lstStyle/>
          <a:p>
            <a:pPr algn="l">
              <a:lnSpc>
                <a:spcPct val="125000"/>
              </a:lnSpc>
            </a:pPr>
            <a:r>
              <a:rPr sz="3400" b="0">
                <a:solidFill>
                  <a:srgbClr val="3F3F46"/>
                </a:solidFill>
                <a:latin typeface="Open Sans"/>
              </a:rPr>
              <a:t>Un prototipo interactivo con inteligencia artificial para entrenar el razonamiento clínico gastrointestinal en estudiantes de la UNAB</a:t>
            </a:r>
          </a:p>
        </p:txBody>
      </p:sp>
      <p:sp>
        <p:nvSpPr>
          <p:cNvPr id="38" name="Rounded Rectangle 37"/>
          <p:cNvSpPr/>
          <p:nvPr/>
        </p:nvSpPr>
        <p:spPr>
          <a:xfrm>
            <a:off x="16510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057400" y="6502400"/>
            <a:ext cx="4229100" cy="3378200"/>
          </a:xfrm>
          <a:prstGeom prst="rect">
            <a:avLst/>
          </a:prstGeom>
          <a:noFill/>
        </p:spPr>
        <p:txBody>
          <a:bodyPr wrap="square" lIns="0" rIns="0" tIns="0" bIns="0" anchor="t"/>
          <a:lstStyle/>
          <a:p>
            <a:pPr algn="l">
              <a:lnSpc>
                <a:spcPct val="125000"/>
              </a:lnSpc>
            </a:pPr>
            <a:r>
              <a:rPr sz="2600" b="1">
                <a:solidFill>
                  <a:srgbClr val="1E8C00"/>
                </a:solidFill>
                <a:latin typeface="Open Sans"/>
              </a:rPr>
              <a:t>01 · Cumplido</a:t>
            </a:r>
          </a:p>
          <a:p>
            <a:pPr algn="l">
              <a:lnSpc>
                <a:spcPct val="125000"/>
              </a:lnSpc>
              <a:spcBef>
                <a:spcPts val="1000"/>
              </a:spcBef>
            </a:pPr>
            <a:r>
              <a:rPr sz="3800" b="1">
                <a:solidFill>
                  <a:srgbClr val="111113"/>
                </a:solidFill>
                <a:latin typeface="Open Sans"/>
              </a:rPr>
              <a:t>Caracterizar</a:t>
            </a:r>
          </a:p>
          <a:p>
            <a:pPr algn="l">
              <a:lnSpc>
                <a:spcPct val="125000"/>
              </a:lnSpc>
              <a:spcBef>
                <a:spcPts val="1000"/>
              </a:spcBef>
            </a:pPr>
            <a:r>
              <a:rPr sz="2800" b="0">
                <a:solidFill>
                  <a:srgbClr val="5F5F66"/>
                </a:solidFill>
                <a:latin typeface="Open Sans"/>
              </a:rPr>
              <a:t>El dominio gastrointestinal y sus casos</a:t>
            </a:r>
          </a:p>
        </p:txBody>
      </p:sp>
      <p:sp>
        <p:nvSpPr>
          <p:cNvPr id="40" name="Rounded Rectangle 39"/>
          <p:cNvSpPr/>
          <p:nvPr/>
        </p:nvSpPr>
        <p:spPr>
          <a:xfrm>
            <a:off x="69977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04100" y="6502400"/>
            <a:ext cx="4229100" cy="3378200"/>
          </a:xfrm>
          <a:prstGeom prst="rect">
            <a:avLst/>
          </a:prstGeom>
          <a:noFill/>
        </p:spPr>
        <p:txBody>
          <a:bodyPr wrap="square" lIns="0" rIns="0" tIns="0" bIns="0" anchor="t"/>
          <a:lstStyle/>
          <a:p>
            <a:pPr algn="l">
              <a:lnSpc>
                <a:spcPct val="125000"/>
              </a:lnSpc>
            </a:pPr>
            <a:r>
              <a:rPr sz="2600" b="1">
                <a:solidFill>
                  <a:srgbClr val="1E8C00"/>
                </a:solidFill>
                <a:latin typeface="Open Sans"/>
              </a:rPr>
              <a:t>02 · Cumplido</a:t>
            </a:r>
          </a:p>
          <a:p>
            <a:pPr algn="l">
              <a:lnSpc>
                <a:spcPct val="125000"/>
              </a:lnSpc>
              <a:spcBef>
                <a:spcPts val="1000"/>
              </a:spcBef>
            </a:pPr>
            <a:r>
              <a:rPr sz="3800" b="1">
                <a:solidFill>
                  <a:srgbClr val="111113"/>
                </a:solidFill>
                <a:latin typeface="Open Sans"/>
              </a:rPr>
              <a:t>Diseñar</a:t>
            </a:r>
          </a:p>
          <a:p>
            <a:pPr algn="l">
              <a:lnSpc>
                <a:spcPct val="125000"/>
              </a:lnSpc>
              <a:spcBef>
                <a:spcPts val="1000"/>
              </a:spcBef>
            </a:pPr>
            <a:r>
              <a:rPr sz="2800" b="0">
                <a:solidFill>
                  <a:srgbClr val="5F5F66"/>
                </a:solidFill>
                <a:latin typeface="Open Sans"/>
              </a:rPr>
              <a:t>Requerimientos, arquitectura y agentes</a:t>
            </a:r>
          </a:p>
        </p:txBody>
      </p:sp>
      <p:sp>
        <p:nvSpPr>
          <p:cNvPr id="42" name="Rounded Rectangle 41"/>
          <p:cNvSpPr/>
          <p:nvPr/>
        </p:nvSpPr>
        <p:spPr>
          <a:xfrm>
            <a:off x="123444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750800" y="6502400"/>
            <a:ext cx="4229100" cy="3378200"/>
          </a:xfrm>
          <a:prstGeom prst="rect">
            <a:avLst/>
          </a:prstGeom>
          <a:noFill/>
        </p:spPr>
        <p:txBody>
          <a:bodyPr wrap="square" lIns="0" rIns="0" tIns="0" bIns="0" anchor="t"/>
          <a:lstStyle/>
          <a:p>
            <a:pPr algn="l">
              <a:lnSpc>
                <a:spcPct val="125000"/>
              </a:lnSpc>
            </a:pPr>
            <a:r>
              <a:rPr sz="2600" b="1">
                <a:solidFill>
                  <a:srgbClr val="1E8C00"/>
                </a:solidFill>
                <a:latin typeface="Open Sans"/>
              </a:rPr>
              <a:t>03 · Cumplido</a:t>
            </a:r>
          </a:p>
          <a:p>
            <a:pPr algn="l">
              <a:lnSpc>
                <a:spcPct val="125000"/>
              </a:lnSpc>
              <a:spcBef>
                <a:spcPts val="1000"/>
              </a:spcBef>
            </a:pPr>
            <a:r>
              <a:rPr sz="3800" b="1">
                <a:solidFill>
                  <a:srgbClr val="111113"/>
                </a:solidFill>
                <a:latin typeface="Open Sans"/>
              </a:rPr>
              <a:t>Implementar</a:t>
            </a:r>
          </a:p>
          <a:p>
            <a:pPr algn="l">
              <a:lnSpc>
                <a:spcPct val="125000"/>
              </a:lnSpc>
              <a:spcBef>
                <a:spcPts val="1000"/>
              </a:spcBef>
            </a:pPr>
            <a:r>
              <a:rPr sz="2800" b="0">
                <a:solidFill>
                  <a:srgbClr val="5F5F66"/>
                </a:solidFill>
                <a:latin typeface="Open Sans"/>
              </a:rPr>
              <a:t>Casos, decisiones y retroalimentación</a:t>
            </a:r>
          </a:p>
        </p:txBody>
      </p:sp>
      <p:sp>
        <p:nvSpPr>
          <p:cNvPr id="44" name="Rounded Rectangle 43"/>
          <p:cNvSpPr/>
          <p:nvPr/>
        </p:nvSpPr>
        <p:spPr>
          <a:xfrm>
            <a:off x="17691100" y="6096000"/>
            <a:ext cx="5041900" cy="4191000"/>
          </a:xfrm>
          <a:prstGeom prst="roundRect">
            <a:avLst>
              <a:gd name="adj" fmla="val 606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8097500" y="6502400"/>
            <a:ext cx="4229100" cy="3378200"/>
          </a:xfrm>
          <a:prstGeom prst="rect">
            <a:avLst/>
          </a:prstGeom>
          <a:noFill/>
        </p:spPr>
        <p:txBody>
          <a:bodyPr wrap="square" lIns="0" rIns="0" tIns="0" bIns="0" anchor="t"/>
          <a:lstStyle/>
          <a:p>
            <a:pPr algn="l">
              <a:lnSpc>
                <a:spcPct val="125000"/>
              </a:lnSpc>
            </a:pPr>
            <a:r>
              <a:rPr sz="2600" b="1">
                <a:solidFill>
                  <a:srgbClr val="1E8C00"/>
                </a:solidFill>
                <a:latin typeface="Open Sans"/>
              </a:rPr>
              <a:t>04 · En curso</a:t>
            </a:r>
          </a:p>
          <a:p>
            <a:pPr algn="l">
              <a:lnSpc>
                <a:spcPct val="125000"/>
              </a:lnSpc>
              <a:spcBef>
                <a:spcPts val="1000"/>
              </a:spcBef>
            </a:pPr>
            <a:r>
              <a:rPr sz="3800" b="1">
                <a:solidFill>
                  <a:srgbClr val="FFFFFF"/>
                </a:solidFill>
                <a:latin typeface="Open Sans"/>
              </a:rPr>
              <a:t>Evaluar</a:t>
            </a:r>
          </a:p>
          <a:p>
            <a:pPr algn="l">
              <a:lnSpc>
                <a:spcPct val="125000"/>
              </a:lnSpc>
              <a:spcBef>
                <a:spcPts val="1000"/>
              </a:spcBef>
            </a:pPr>
            <a:r>
              <a:rPr sz="2800" b="0">
                <a:solidFill>
                  <a:srgbClr val="5F5F66"/>
                </a:solidFill>
                <a:latin typeface="Open Sans"/>
              </a:rPr>
              <a:t>Métricas técnicas y juicio de expertos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Un consultorio de práctica virtual</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LA SOLUCIÓN</a:t>
            </a:r>
          </a:p>
        </p:txBody>
      </p:sp>
      <p:sp>
        <p:nvSpPr>
          <p:cNvPr id="37" name="Rounded Rectangle 36"/>
          <p:cNvSpPr/>
          <p:nvPr/>
        </p:nvSpPr>
        <p:spPr>
          <a:xfrm>
            <a:off x="1651000" y="4191000"/>
            <a:ext cx="6781800" cy="4826000"/>
          </a:xfrm>
          <a:prstGeom prst="roundRect">
            <a:avLst>
              <a:gd name="adj" fmla="val 526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09800" y="4749800"/>
            <a:ext cx="5664200" cy="3708400"/>
          </a:xfrm>
          <a:prstGeom prst="rect">
            <a:avLst/>
          </a:prstGeom>
          <a:noFill/>
        </p:spPr>
        <p:txBody>
          <a:bodyPr wrap="square" lIns="0" rIns="0" tIns="0" bIns="0" anchor="t"/>
          <a:lstStyle/>
          <a:p>
            <a:pPr algn="l">
              <a:lnSpc>
                <a:spcPct val="125000"/>
              </a:lnSpc>
            </a:pPr>
            <a:r>
              <a:rPr sz="4400" b="1">
                <a:solidFill>
                  <a:srgbClr val="FFFFFF"/>
                </a:solidFill>
                <a:latin typeface="Open Sans"/>
              </a:rPr>
              <a:t>Simulador con IA</a:t>
            </a:r>
          </a:p>
          <a:p>
            <a:pPr algn="l">
              <a:lnSpc>
                <a:spcPct val="125000"/>
              </a:lnSpc>
              <a:spcBef>
                <a:spcPts val="1600"/>
              </a:spcBef>
            </a:pPr>
            <a:r>
              <a:rPr sz="2800" b="0">
                <a:solidFill>
                  <a:srgbClr val="BFD9C4"/>
                </a:solidFill>
                <a:latin typeface="Open Sans"/>
              </a:rPr>
              <a:t>Entrevistar, examinar, pedir paraclínicos, diagnosticar y recibir una nota</a:t>
            </a:r>
          </a:p>
        </p:txBody>
      </p:sp>
      <p:sp>
        <p:nvSpPr>
          <p:cNvPr id="39" name="Rounded Rectangle 38"/>
          <p:cNvSpPr/>
          <p:nvPr/>
        </p:nvSpPr>
        <p:spPr>
          <a:xfrm>
            <a:off x="8788400" y="4191000"/>
            <a:ext cx="6781800" cy="4826000"/>
          </a:xfrm>
          <a:prstGeom prst="roundRect">
            <a:avLst>
              <a:gd name="adj" fmla="val 526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47200" y="4749800"/>
            <a:ext cx="5664200" cy="3708400"/>
          </a:xfrm>
          <a:prstGeom prst="rect">
            <a:avLst/>
          </a:prstGeom>
          <a:noFill/>
        </p:spPr>
        <p:txBody>
          <a:bodyPr wrap="square" lIns="0" rIns="0" tIns="0" bIns="0" anchor="t"/>
          <a:lstStyle/>
          <a:p>
            <a:pPr algn="l">
              <a:lnSpc>
                <a:spcPct val="125000"/>
              </a:lnSpc>
            </a:pPr>
            <a:r>
              <a:rPr sz="4400" b="1">
                <a:solidFill>
                  <a:srgbClr val="111113"/>
                </a:solidFill>
                <a:latin typeface="Open Sans"/>
              </a:rPr>
              <a:t>Aula virtual</a:t>
            </a:r>
          </a:p>
          <a:p>
            <a:pPr algn="l">
              <a:lnSpc>
                <a:spcPct val="125000"/>
              </a:lnSpc>
              <a:spcBef>
                <a:spcPts val="1600"/>
              </a:spcBef>
            </a:pPr>
            <a:r>
              <a:rPr sz="2800" b="0">
                <a:solidFill>
                  <a:srgbClr val="5F5F66"/>
                </a:solidFill>
                <a:latin typeface="Open Sans"/>
              </a:rPr>
              <a:t>Cursos, tareas, cuestionarios, avisos, notas y seguimiento</a:t>
            </a:r>
          </a:p>
        </p:txBody>
      </p:sp>
      <p:sp>
        <p:nvSpPr>
          <p:cNvPr id="41" name="Rounded Rectangle 40"/>
          <p:cNvSpPr/>
          <p:nvPr/>
        </p:nvSpPr>
        <p:spPr>
          <a:xfrm>
            <a:off x="15925800" y="4191000"/>
            <a:ext cx="6781800" cy="4826000"/>
          </a:xfrm>
          <a:prstGeom prst="roundRect">
            <a:avLst>
              <a:gd name="adj" fmla="val 526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484600" y="4749800"/>
            <a:ext cx="5664200" cy="3708400"/>
          </a:xfrm>
          <a:prstGeom prst="rect">
            <a:avLst/>
          </a:prstGeom>
          <a:noFill/>
        </p:spPr>
        <p:txBody>
          <a:bodyPr wrap="square" lIns="0" rIns="0" tIns="0" bIns="0" anchor="t"/>
          <a:lstStyle/>
          <a:p>
            <a:pPr algn="l">
              <a:lnSpc>
                <a:spcPct val="125000"/>
              </a:lnSpc>
            </a:pPr>
            <a:r>
              <a:rPr sz="4400" b="1">
                <a:solidFill>
                  <a:srgbClr val="111113"/>
                </a:solidFill>
                <a:latin typeface="Open Sans"/>
              </a:rPr>
              <a:t>Biblioteca</a:t>
            </a:r>
          </a:p>
          <a:p>
            <a:pPr algn="l">
              <a:lnSpc>
                <a:spcPct val="125000"/>
              </a:lnSpc>
              <a:spcBef>
                <a:spcPts val="1600"/>
              </a:spcBef>
            </a:pPr>
            <a:r>
              <a:rPr sz="2800" b="0">
                <a:solidFill>
                  <a:srgbClr val="5F5F66"/>
                </a:solidFill>
                <a:latin typeface="Open Sans"/>
              </a:rPr>
              <a:t>433 recursos abiertos, con visor, lápiz y notas</a:t>
            </a:r>
          </a:p>
        </p:txBody>
      </p:sp>
      <p:sp>
        <p:nvSpPr>
          <p:cNvPr id="43" name="TextBox 42"/>
          <p:cNvSpPr txBox="1"/>
          <p:nvPr/>
        </p:nvSpPr>
        <p:spPr>
          <a:xfrm>
            <a:off x="1651000" y="9652000"/>
            <a:ext cx="21082000" cy="762000"/>
          </a:xfrm>
          <a:prstGeom prst="rect">
            <a:avLst/>
          </a:prstGeom>
          <a:noFill/>
        </p:spPr>
        <p:txBody>
          <a:bodyPr wrap="square" lIns="0" rIns="0" tIns="0" bIns="0" anchor="t"/>
          <a:lstStyle/>
          <a:p>
            <a:pPr algn="l">
              <a:lnSpc>
                <a:spcPct val="125000"/>
              </a:lnSpc>
            </a:pPr>
            <a:r>
              <a:rPr sz="3200" b="0">
                <a:solidFill>
                  <a:srgbClr val="5F5F66"/>
                </a:solidFill>
                <a:latin typeface="Open Sans"/>
              </a:rPr>
              <a:t>Más: nube personal de 5 GB, panel de administración y portal de expertos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Tres capas, cada una en su nube</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ARQUITECTURA</a:t>
            </a:r>
          </a:p>
        </p:txBody>
      </p:sp>
      <p:sp>
        <p:nvSpPr>
          <p:cNvPr id="37" name="Rounded Rectangle 36"/>
          <p:cNvSpPr/>
          <p:nvPr/>
        </p:nvSpPr>
        <p:spPr>
          <a:xfrm>
            <a:off x="1651000" y="4318000"/>
            <a:ext cx="5969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59000" y="4826000"/>
            <a:ext cx="4953000" cy="3048000"/>
          </a:xfrm>
          <a:prstGeom prst="rect">
            <a:avLst/>
          </a:prstGeom>
          <a:noFill/>
        </p:spPr>
        <p:txBody>
          <a:bodyPr wrap="square" lIns="0" rIns="0" tIns="0" bIns="0" anchor="t"/>
          <a:lstStyle/>
          <a:p>
            <a:pPr algn="l">
              <a:lnSpc>
                <a:spcPct val="125000"/>
              </a:lnSpc>
            </a:pPr>
            <a:r>
              <a:rPr sz="4400" b="1">
                <a:solidFill>
                  <a:srgbClr val="111113"/>
                </a:solidFill>
                <a:latin typeface="Open Sans"/>
              </a:rPr>
              <a:t>Frontend</a:t>
            </a:r>
          </a:p>
          <a:p>
            <a:pPr algn="l">
              <a:lnSpc>
                <a:spcPct val="125000"/>
              </a:lnSpc>
              <a:spcBef>
                <a:spcPts val="1200"/>
              </a:spcBef>
            </a:pPr>
            <a:r>
              <a:rPr sz="2800" b="0">
                <a:solidFill>
                  <a:srgbClr val="5F5F66"/>
                </a:solidFill>
                <a:latin typeface="Open Sans"/>
              </a:rPr>
              <a:t>React 19 + TypeScript</a:t>
            </a:r>
          </a:p>
          <a:p>
            <a:pPr algn="l">
              <a:lnSpc>
                <a:spcPct val="125000"/>
              </a:lnSpc>
              <a:spcBef>
                <a:spcPts val="1200"/>
              </a:spcBef>
            </a:pPr>
            <a:r>
              <a:rPr sz="2800" b="1">
                <a:solidFill>
                  <a:srgbClr val="1E8C00"/>
                </a:solidFill>
                <a:latin typeface="Open Sans"/>
              </a:rPr>
              <a:t>Vercel</a:t>
            </a:r>
          </a:p>
        </p:txBody>
      </p:sp>
      <p:sp>
        <p:nvSpPr>
          <p:cNvPr id="39" name="Right Arrow 38"/>
          <p:cNvSpPr/>
          <p:nvPr/>
        </p:nvSpPr>
        <p:spPr>
          <a:xfrm>
            <a:off x="7797800" y="6159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686800" y="4318000"/>
            <a:ext cx="5969000" cy="4064000"/>
          </a:xfrm>
          <a:prstGeom prst="roundRect">
            <a:avLst>
              <a:gd name="adj" fmla="val 625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194800" y="4826000"/>
            <a:ext cx="4953000" cy="3048000"/>
          </a:xfrm>
          <a:prstGeom prst="rect">
            <a:avLst/>
          </a:prstGeom>
          <a:noFill/>
        </p:spPr>
        <p:txBody>
          <a:bodyPr wrap="square" lIns="0" rIns="0" tIns="0" bIns="0" anchor="t"/>
          <a:lstStyle/>
          <a:p>
            <a:pPr algn="l">
              <a:lnSpc>
                <a:spcPct val="125000"/>
              </a:lnSpc>
            </a:pPr>
            <a:r>
              <a:rPr sz="4400" b="1">
                <a:solidFill>
                  <a:srgbClr val="FFFFFF"/>
                </a:solidFill>
                <a:latin typeface="Open Sans"/>
              </a:rPr>
              <a:t>Backend</a:t>
            </a:r>
          </a:p>
          <a:p>
            <a:pPr algn="l">
              <a:lnSpc>
                <a:spcPct val="125000"/>
              </a:lnSpc>
              <a:spcBef>
                <a:spcPts val="1200"/>
              </a:spcBef>
            </a:pPr>
            <a:r>
              <a:rPr sz="2800" b="0">
                <a:solidFill>
                  <a:srgbClr val="BFD9C4"/>
                </a:solidFill>
                <a:latin typeface="Open Sans"/>
              </a:rPr>
              <a:t>API en Flask y agentes</a:t>
            </a:r>
          </a:p>
          <a:p>
            <a:pPr algn="l">
              <a:lnSpc>
                <a:spcPct val="125000"/>
              </a:lnSpc>
              <a:spcBef>
                <a:spcPts val="1200"/>
              </a:spcBef>
            </a:pPr>
            <a:r>
              <a:rPr sz="2800" b="1">
                <a:solidFill>
                  <a:srgbClr val="3DD700"/>
                </a:solidFill>
                <a:latin typeface="Open Sans"/>
              </a:rPr>
              <a:t>Google Cloud Run</a:t>
            </a:r>
          </a:p>
        </p:txBody>
      </p:sp>
      <p:sp>
        <p:nvSpPr>
          <p:cNvPr id="42" name="Right Arrow 41"/>
          <p:cNvSpPr/>
          <p:nvPr/>
        </p:nvSpPr>
        <p:spPr>
          <a:xfrm>
            <a:off x="14833600" y="6159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5722600" y="43180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6027400" y="43180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PostgreSQL</a:t>
            </a:r>
          </a:p>
        </p:txBody>
      </p:sp>
      <p:sp>
        <p:nvSpPr>
          <p:cNvPr id="45" name="Rounded Rectangle 44"/>
          <p:cNvSpPr/>
          <p:nvPr/>
        </p:nvSpPr>
        <p:spPr>
          <a:xfrm>
            <a:off x="19329400" y="43180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9634200" y="43180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MongoDB</a:t>
            </a:r>
          </a:p>
        </p:txBody>
      </p:sp>
      <p:sp>
        <p:nvSpPr>
          <p:cNvPr id="47" name="Rounded Rectangle 46"/>
          <p:cNvSpPr/>
          <p:nvPr/>
        </p:nvSpPr>
        <p:spPr>
          <a:xfrm>
            <a:off x="15722600" y="57404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6027400" y="57404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R2 archivos</a:t>
            </a:r>
          </a:p>
        </p:txBody>
      </p:sp>
      <p:sp>
        <p:nvSpPr>
          <p:cNvPr id="49" name="Rounded Rectangle 48"/>
          <p:cNvSpPr/>
          <p:nvPr/>
        </p:nvSpPr>
        <p:spPr>
          <a:xfrm>
            <a:off x="19329400" y="57404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9634200" y="57404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Gemini API</a:t>
            </a:r>
          </a:p>
        </p:txBody>
      </p:sp>
      <p:sp>
        <p:nvSpPr>
          <p:cNvPr id="51" name="Rounded Rectangle 50"/>
          <p:cNvSpPr/>
          <p:nvPr/>
        </p:nvSpPr>
        <p:spPr>
          <a:xfrm>
            <a:off x="15722600" y="71628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6027400" y="71628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Mailgun</a:t>
            </a:r>
          </a:p>
        </p:txBody>
      </p:sp>
      <p:sp>
        <p:nvSpPr>
          <p:cNvPr id="53" name="Rounded Rectangle 52"/>
          <p:cNvSpPr/>
          <p:nvPr/>
        </p:nvSpPr>
        <p:spPr>
          <a:xfrm>
            <a:off x="19329400" y="71628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9634200" y="7162800"/>
            <a:ext cx="2794000" cy="1219200"/>
          </a:xfrm>
          <a:prstGeom prst="rect">
            <a:avLst/>
          </a:prstGeom>
          <a:noFill/>
        </p:spPr>
        <p:txBody>
          <a:bodyPr wrap="square" lIns="0" rIns="0" tIns="0" bIns="0" anchor="ctr"/>
          <a:lstStyle/>
          <a:p>
            <a:pPr algn="l">
              <a:lnSpc>
                <a:spcPct val="125000"/>
              </a:lnSpc>
            </a:pPr>
            <a:r>
              <a:rPr sz="2800" b="1">
                <a:solidFill>
                  <a:srgbClr val="111113"/>
                </a:solidFill>
                <a:latin typeface="Open Sans"/>
              </a:rPr>
              <a:t>Gotenberg</a:t>
            </a:r>
          </a:p>
        </p:txBody>
      </p:sp>
      <p:sp>
        <p:nvSpPr>
          <p:cNvPr id="55" name="TextBox 54"/>
          <p:cNvSpPr txBox="1"/>
          <p:nvPr/>
        </p:nvSpPr>
        <p:spPr>
          <a:xfrm>
            <a:off x="1651000" y="9271000"/>
            <a:ext cx="21082000" cy="1270000"/>
          </a:xfrm>
          <a:prstGeom prst="rect">
            <a:avLst/>
          </a:prstGeom>
          <a:noFill/>
        </p:spPr>
        <p:txBody>
          <a:bodyPr wrap="square" lIns="0" rIns="0" tIns="0" bIns="0" anchor="t"/>
          <a:lstStyle/>
          <a:p>
            <a:pPr algn="l">
              <a:lnSpc>
                <a:spcPct val="125000"/>
              </a:lnSpc>
            </a:pPr>
            <a:r>
              <a:rPr sz="3200" b="0">
                <a:solidFill>
                  <a:srgbClr val="5F5F66"/>
                </a:solidFill>
                <a:latin typeface="Open Sans"/>
              </a:rPr>
              <a:t>Datos en PostgreSQL (Supabase), conversaciones en MongoDB, archivos en Cloudflare R2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Interfaz tipada, liviana y propia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FRONTEND</a:t>
            </a:r>
          </a:p>
        </p:txBody>
      </p:sp>
      <p:sp>
        <p:nvSpPr>
          <p:cNvPr id="37" name="Rounded Rectangle 36"/>
          <p:cNvSpPr/>
          <p:nvPr/>
        </p:nvSpPr>
        <p:spPr>
          <a:xfrm>
            <a:off x="1651000" y="4191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057400" y="4597400"/>
            <a:ext cx="5410200" cy="1600200"/>
          </a:xfrm>
          <a:prstGeom prst="rect">
            <a:avLst/>
          </a:prstGeom>
          <a:noFill/>
        </p:spPr>
        <p:txBody>
          <a:bodyPr wrap="square" lIns="0" rIns="0" tIns="0" bIns="0" anchor="t"/>
          <a:lstStyle/>
          <a:p>
            <a:pPr algn="l">
              <a:lnSpc>
                <a:spcPct val="125000"/>
              </a:lnSpc>
            </a:pPr>
            <a:r>
              <a:rPr sz="3600" b="1">
                <a:solidFill>
                  <a:srgbClr val="111113"/>
                </a:solidFill>
                <a:latin typeface="Open Sans"/>
              </a:rPr>
              <a:t>React 19 + TS</a:t>
            </a:r>
          </a:p>
          <a:p>
            <a:pPr algn="l">
              <a:lnSpc>
                <a:spcPct val="125000"/>
              </a:lnSpc>
              <a:spcBef>
                <a:spcPts val="800"/>
              </a:spcBef>
            </a:pPr>
            <a:r>
              <a:rPr sz="2800" b="0">
                <a:solidFill>
                  <a:srgbClr val="5F5F66"/>
                </a:solidFill>
                <a:latin typeface="Open Sans"/>
              </a:rPr>
              <a:t>Tipos para casos y puntajes</a:t>
            </a:r>
          </a:p>
        </p:txBody>
      </p:sp>
      <p:sp>
        <p:nvSpPr>
          <p:cNvPr id="39" name="Rounded Rectangle 38"/>
          <p:cNvSpPr/>
          <p:nvPr/>
        </p:nvSpPr>
        <p:spPr>
          <a:xfrm>
            <a:off x="8128000" y="4191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34400" y="4597400"/>
            <a:ext cx="5410200" cy="1600200"/>
          </a:xfrm>
          <a:prstGeom prst="rect">
            <a:avLst/>
          </a:prstGeom>
          <a:noFill/>
        </p:spPr>
        <p:txBody>
          <a:bodyPr wrap="square" lIns="0" rIns="0" tIns="0" bIns="0" anchor="t"/>
          <a:lstStyle/>
          <a:p>
            <a:pPr algn="l">
              <a:lnSpc>
                <a:spcPct val="125000"/>
              </a:lnSpc>
            </a:pPr>
            <a:r>
              <a:rPr sz="3600" b="1">
                <a:solidFill>
                  <a:srgbClr val="111113"/>
                </a:solidFill>
                <a:latin typeface="Open Sans"/>
              </a:rPr>
              <a:t>Vite + Router 7</a:t>
            </a:r>
          </a:p>
          <a:p>
            <a:pPr algn="l">
              <a:lnSpc>
                <a:spcPct val="125000"/>
              </a:lnSpc>
              <a:spcBef>
                <a:spcPts val="800"/>
              </a:spcBef>
            </a:pPr>
            <a:r>
              <a:rPr sz="2800" b="0">
                <a:solidFill>
                  <a:srgbClr val="5F5F66"/>
                </a:solidFill>
                <a:latin typeface="Open Sans"/>
              </a:rPr>
              <a:t>Rutas protegidas por rol</a:t>
            </a:r>
          </a:p>
        </p:txBody>
      </p:sp>
      <p:sp>
        <p:nvSpPr>
          <p:cNvPr id="41" name="Rounded Rectangle 40"/>
          <p:cNvSpPr/>
          <p:nvPr/>
        </p:nvSpPr>
        <p:spPr>
          <a:xfrm>
            <a:off x="1651000" y="6858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057400" y="7264400"/>
            <a:ext cx="5410200" cy="1600200"/>
          </a:xfrm>
          <a:prstGeom prst="rect">
            <a:avLst/>
          </a:prstGeom>
          <a:noFill/>
        </p:spPr>
        <p:txBody>
          <a:bodyPr wrap="square" lIns="0" rIns="0" tIns="0" bIns="0" anchor="t"/>
          <a:lstStyle/>
          <a:p>
            <a:pPr algn="l">
              <a:lnSpc>
                <a:spcPct val="125000"/>
              </a:lnSpc>
            </a:pPr>
            <a:r>
              <a:rPr sz="3600" b="1">
                <a:solidFill>
                  <a:srgbClr val="111113"/>
                </a:solidFill>
                <a:latin typeface="Open Sans"/>
              </a:rPr>
              <a:t>CSS propio</a:t>
            </a:r>
          </a:p>
          <a:p>
            <a:pPr algn="l">
              <a:lnSpc>
                <a:spcPct val="125000"/>
              </a:lnSpc>
              <a:spcBef>
                <a:spcPts val="800"/>
              </a:spcBef>
            </a:pPr>
            <a:r>
              <a:rPr sz="2800" b="0">
                <a:solidFill>
                  <a:srgbClr val="5F5F66"/>
                </a:solidFill>
                <a:latin typeface="Open Sans"/>
              </a:rPr>
              <a:t>Modo claro y oscuro</a:t>
            </a:r>
          </a:p>
        </p:txBody>
      </p:sp>
      <p:sp>
        <p:nvSpPr>
          <p:cNvPr id="43" name="Rounded Rectangle 42"/>
          <p:cNvSpPr/>
          <p:nvPr/>
        </p:nvSpPr>
        <p:spPr>
          <a:xfrm>
            <a:off x="8128000" y="6858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534400" y="7264400"/>
            <a:ext cx="5410200" cy="1600200"/>
          </a:xfrm>
          <a:prstGeom prst="rect">
            <a:avLst/>
          </a:prstGeom>
          <a:noFill/>
        </p:spPr>
        <p:txBody>
          <a:bodyPr wrap="square" lIns="0" rIns="0" tIns="0" bIns="0" anchor="t"/>
          <a:lstStyle/>
          <a:p>
            <a:pPr algn="l">
              <a:lnSpc>
                <a:spcPct val="125000"/>
              </a:lnSpc>
            </a:pPr>
            <a:r>
              <a:rPr sz="3600" b="1">
                <a:solidFill>
                  <a:srgbClr val="111113"/>
                </a:solidFill>
                <a:latin typeface="Open Sans"/>
              </a:rPr>
              <a:t>Visores</a:t>
            </a:r>
          </a:p>
          <a:p>
            <a:pPr algn="l">
              <a:lnSpc>
                <a:spcPct val="125000"/>
              </a:lnSpc>
              <a:spcBef>
                <a:spcPts val="800"/>
              </a:spcBef>
            </a:pPr>
            <a:r>
              <a:rPr sz="2800" b="0">
                <a:solidFill>
                  <a:srgbClr val="5F5F66"/>
                </a:solidFill>
                <a:latin typeface="Open Sans"/>
              </a:rPr>
              <a:t>PDF, Excel y Office en el navegador</a:t>
            </a:r>
          </a:p>
        </p:txBody>
      </p:sp>
      <p:sp>
        <p:nvSpPr>
          <p:cNvPr id="45" name="Rounded Rectangle 44"/>
          <p:cNvSpPr/>
          <p:nvPr/>
        </p:nvSpPr>
        <p:spPr>
          <a:xfrm>
            <a:off x="14859000" y="4191000"/>
            <a:ext cx="7874000" cy="3048000"/>
          </a:xfrm>
          <a:prstGeom prst="roundRect">
            <a:avLst>
              <a:gd name="adj" fmla="val 833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5316200" y="4648200"/>
            <a:ext cx="6959600" cy="2133600"/>
          </a:xfrm>
          <a:prstGeom prst="rect">
            <a:avLst/>
          </a:prstGeom>
          <a:noFill/>
        </p:spPr>
        <p:txBody>
          <a:bodyPr wrap="square" lIns="0" rIns="0" tIns="0" bIns="0" anchor="t"/>
          <a:lstStyle/>
          <a:p>
            <a:pPr algn="l">
              <a:lnSpc>
                <a:spcPct val="125000"/>
              </a:lnSpc>
            </a:pPr>
            <a:r>
              <a:rPr sz="5600" b="1">
                <a:solidFill>
                  <a:srgbClr val="FFFFFF"/>
                </a:solidFill>
                <a:latin typeface="Open Sans"/>
              </a:rPr>
              <a:t>3,1 MB → </a:t>
            </a:r>
            <a:r>
              <a:rPr sz="5600" b="1">
                <a:solidFill>
                  <a:srgbClr val="3DD700"/>
                </a:solidFill>
                <a:latin typeface="Open Sans"/>
              </a:rPr>
              <a:t>200 KB</a:t>
            </a:r>
          </a:p>
          <a:p>
            <a:pPr algn="l">
              <a:lnSpc>
                <a:spcPct val="125000"/>
              </a:lnSpc>
              <a:spcBef>
                <a:spcPts val="1000"/>
              </a:spcBef>
            </a:pPr>
            <a:r>
              <a:rPr sz="2800" b="0">
                <a:solidFill>
                  <a:srgbClr val="BFD9C4"/>
                </a:solidFill>
                <a:latin typeface="Open Sans"/>
              </a:rPr>
              <a:t>Carga inicial con pantallas bajo demanda</a:t>
            </a:r>
          </a:p>
        </p:txBody>
      </p:sp>
      <p:sp>
        <p:nvSpPr>
          <p:cNvPr id="47" name="Rounded Rectangle 46"/>
          <p:cNvSpPr/>
          <p:nvPr/>
        </p:nvSpPr>
        <p:spPr>
          <a:xfrm>
            <a:off x="14859000" y="7493000"/>
            <a:ext cx="7874000" cy="2032000"/>
          </a:xfrm>
          <a:prstGeom prst="roundRect">
            <a:avLst>
              <a:gd name="adj" fmla="val 1250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5316200" y="7950200"/>
            <a:ext cx="6959600" cy="1117600"/>
          </a:xfrm>
          <a:prstGeom prst="rect">
            <a:avLst/>
          </a:prstGeom>
          <a:noFill/>
        </p:spPr>
        <p:txBody>
          <a:bodyPr wrap="square" lIns="0" rIns="0" tIns="0" bIns="0" anchor="t"/>
          <a:lstStyle/>
          <a:p>
            <a:pPr algn="l">
              <a:lnSpc>
                <a:spcPct val="125000"/>
              </a:lnSpc>
            </a:pPr>
            <a:r>
              <a:rPr sz="3600" b="1">
                <a:solidFill>
                  <a:srgbClr val="111113"/>
                </a:solidFill>
                <a:latin typeface="Open Sans"/>
              </a:rPr>
              <a:t>Pruebas E2E</a:t>
            </a:r>
          </a:p>
          <a:p>
            <a:pPr algn="l">
              <a:lnSpc>
                <a:spcPct val="125000"/>
              </a:lnSpc>
              <a:spcBef>
                <a:spcPts val="800"/>
              </a:spcBef>
            </a:pPr>
            <a:r>
              <a:rPr sz="2800" b="0">
                <a:solidFill>
                  <a:srgbClr val="5F5F66"/>
                </a:solidFill>
                <a:latin typeface="Open Sans"/>
              </a:rPr>
              <a:t>Playwright recorre cada 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API en Flask, validada y probada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BACKEND</a:t>
            </a:r>
          </a:p>
        </p:txBody>
      </p:sp>
      <p:sp>
        <p:nvSpPr>
          <p:cNvPr id="37" name="Rounded Rectangle 36"/>
          <p:cNvSpPr/>
          <p:nvPr/>
        </p:nvSpPr>
        <p:spPr>
          <a:xfrm>
            <a:off x="1651000" y="41910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057400" y="4191000"/>
            <a:ext cx="11633200" cy="1219200"/>
          </a:xfrm>
          <a:prstGeom prst="rect">
            <a:avLst/>
          </a:prstGeom>
          <a:noFill/>
        </p:spPr>
        <p:txBody>
          <a:bodyPr wrap="square" lIns="0" rIns="0" tIns="0" bIns="0" anchor="ctr"/>
          <a:lstStyle/>
          <a:p>
            <a:pPr algn="l">
              <a:lnSpc>
                <a:spcPct val="125000"/>
              </a:lnSpc>
            </a:pPr>
            <a:r>
              <a:rPr sz="3200" b="1">
                <a:solidFill>
                  <a:srgbClr val="111113"/>
                </a:solidFill>
                <a:latin typeface="Open Sans"/>
              </a:rPr>
              <a:t>Flask</a:t>
            </a:r>
            <a:r>
              <a:rPr sz="3200" b="0">
                <a:solidFill>
                  <a:srgbClr val="111113"/>
                </a:solidFill>
                <a:latin typeface="Open Sans"/>
              </a:rPr>
              <a:t> organizado por módulos</a:t>
            </a:r>
          </a:p>
        </p:txBody>
      </p:sp>
      <p:sp>
        <p:nvSpPr>
          <p:cNvPr id="39" name="Rounded Rectangle 38"/>
          <p:cNvSpPr/>
          <p:nvPr/>
        </p:nvSpPr>
        <p:spPr>
          <a:xfrm>
            <a:off x="1651000" y="56388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057400" y="5638800"/>
            <a:ext cx="11633200" cy="1219200"/>
          </a:xfrm>
          <a:prstGeom prst="rect">
            <a:avLst/>
          </a:prstGeom>
          <a:noFill/>
        </p:spPr>
        <p:txBody>
          <a:bodyPr wrap="square" lIns="0" rIns="0" tIns="0" bIns="0" anchor="ctr"/>
          <a:lstStyle/>
          <a:p>
            <a:pPr algn="l">
              <a:lnSpc>
                <a:spcPct val="125000"/>
              </a:lnSpc>
            </a:pPr>
            <a:r>
              <a:rPr sz="3200" b="1">
                <a:solidFill>
                  <a:srgbClr val="111113"/>
                </a:solidFill>
                <a:latin typeface="Open Sans"/>
              </a:rPr>
              <a:t>Pydantic</a:t>
            </a:r>
            <a:r>
              <a:rPr sz="3200" b="0">
                <a:solidFill>
                  <a:srgbClr val="111113"/>
                </a:solidFill>
                <a:latin typeface="Open Sans"/>
              </a:rPr>
              <a:t> valida cada petición</a:t>
            </a:r>
          </a:p>
        </p:txBody>
      </p:sp>
      <p:sp>
        <p:nvSpPr>
          <p:cNvPr id="41" name="Rounded Rectangle 40"/>
          <p:cNvSpPr/>
          <p:nvPr/>
        </p:nvSpPr>
        <p:spPr>
          <a:xfrm>
            <a:off x="1651000" y="70866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057400" y="7086600"/>
            <a:ext cx="11633200" cy="1219200"/>
          </a:xfrm>
          <a:prstGeom prst="rect">
            <a:avLst/>
          </a:prstGeom>
          <a:noFill/>
        </p:spPr>
        <p:txBody>
          <a:bodyPr wrap="square" lIns="0" rIns="0" tIns="0" bIns="0" anchor="ctr"/>
          <a:lstStyle/>
          <a:p>
            <a:pPr algn="l">
              <a:lnSpc>
                <a:spcPct val="125000"/>
              </a:lnSpc>
            </a:pPr>
            <a:r>
              <a:rPr sz="3200" b="1">
                <a:solidFill>
                  <a:srgbClr val="111113"/>
                </a:solidFill>
                <a:latin typeface="Open Sans"/>
              </a:rPr>
              <a:t>Alembic</a:t>
            </a:r>
            <a:r>
              <a:rPr sz="3200" b="0">
                <a:solidFill>
                  <a:srgbClr val="111113"/>
                </a:solidFill>
                <a:latin typeface="Open Sans"/>
              </a:rPr>
              <a:t>: migraciones aditivas</a:t>
            </a:r>
          </a:p>
        </p:txBody>
      </p:sp>
      <p:sp>
        <p:nvSpPr>
          <p:cNvPr id="43" name="Rounded Rectangle 42"/>
          <p:cNvSpPr/>
          <p:nvPr/>
        </p:nvSpPr>
        <p:spPr>
          <a:xfrm>
            <a:off x="1651000" y="85344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057400" y="8534400"/>
            <a:ext cx="11633200" cy="1219200"/>
          </a:xfrm>
          <a:prstGeom prst="rect">
            <a:avLst/>
          </a:prstGeom>
          <a:noFill/>
        </p:spPr>
        <p:txBody>
          <a:bodyPr wrap="square" lIns="0" rIns="0" tIns="0" bIns="0" anchor="ctr"/>
          <a:lstStyle/>
          <a:p>
            <a:pPr algn="l">
              <a:lnSpc>
                <a:spcPct val="125000"/>
              </a:lnSpc>
            </a:pPr>
            <a:r>
              <a:rPr sz="3200" b="1">
                <a:solidFill>
                  <a:srgbClr val="111113"/>
                </a:solidFill>
                <a:latin typeface="Open Sans"/>
              </a:rPr>
              <a:t>OpenAPI</a:t>
            </a:r>
            <a:r>
              <a:rPr sz="3200" b="0">
                <a:solidFill>
                  <a:srgbClr val="111113"/>
                </a:solidFill>
                <a:latin typeface="Open Sans"/>
              </a:rPr>
              <a:t>: cada ruta documentada</a:t>
            </a:r>
          </a:p>
        </p:txBody>
      </p:sp>
      <p:sp>
        <p:nvSpPr>
          <p:cNvPr id="45" name="Rounded Rectangle 44"/>
          <p:cNvSpPr/>
          <p:nvPr/>
        </p:nvSpPr>
        <p:spPr>
          <a:xfrm>
            <a:off x="14605000" y="4191000"/>
            <a:ext cx="8128000" cy="3175000"/>
          </a:xfrm>
          <a:prstGeom prst="roundRect">
            <a:avLst>
              <a:gd name="adj" fmla="val 800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5062200" y="4648200"/>
            <a:ext cx="7213600" cy="2260600"/>
          </a:xfrm>
          <a:prstGeom prst="rect">
            <a:avLst/>
          </a:prstGeom>
          <a:noFill/>
        </p:spPr>
        <p:txBody>
          <a:bodyPr wrap="square" lIns="0" rIns="0" tIns="0" bIns="0" anchor="t"/>
          <a:lstStyle/>
          <a:p>
            <a:pPr algn="l">
              <a:lnSpc>
                <a:spcPct val="100000"/>
              </a:lnSpc>
            </a:pPr>
            <a:r>
              <a:rPr sz="12000" b="1">
                <a:solidFill>
                  <a:srgbClr val="FFFFFF"/>
                </a:solidFill>
                <a:latin typeface="OpenSans-ExtraBold"/>
              </a:rPr>
              <a:t>848</a:t>
            </a:r>
          </a:p>
          <a:p>
            <a:pPr algn="l">
              <a:lnSpc>
                <a:spcPct val="125000"/>
              </a:lnSpc>
              <a:spcBef>
                <a:spcPts val="800"/>
              </a:spcBef>
            </a:pPr>
            <a:r>
              <a:rPr sz="2800" b="0">
                <a:solidFill>
                  <a:srgbClr val="BFD9C4"/>
                </a:solidFill>
                <a:latin typeface="Open Sans"/>
              </a:rPr>
              <a:t>pruebas automatizadas aprobadas, 0 fallos</a:t>
            </a:r>
          </a:p>
        </p:txBody>
      </p:sp>
      <p:sp>
        <p:nvSpPr>
          <p:cNvPr id="47" name="Rounded Rectangle 46"/>
          <p:cNvSpPr/>
          <p:nvPr/>
        </p:nvSpPr>
        <p:spPr>
          <a:xfrm>
            <a:off x="14605000" y="7620000"/>
            <a:ext cx="8128000" cy="2540000"/>
          </a:xfrm>
          <a:prstGeom prst="roundRect">
            <a:avLst>
              <a:gd name="adj" fmla="val 1000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5062200" y="8077200"/>
            <a:ext cx="7213600" cy="1625600"/>
          </a:xfrm>
          <a:prstGeom prst="rect">
            <a:avLst/>
          </a:prstGeom>
          <a:noFill/>
        </p:spPr>
        <p:txBody>
          <a:bodyPr wrap="square" lIns="0" rIns="0" tIns="0" bIns="0" anchor="t"/>
          <a:lstStyle/>
          <a:p>
            <a:pPr algn="l">
              <a:lnSpc>
                <a:spcPct val="100000"/>
              </a:lnSpc>
            </a:pPr>
            <a:r>
              <a:rPr sz="7200" b="1">
                <a:solidFill>
                  <a:srgbClr val="111113"/>
                </a:solidFill>
                <a:latin typeface="OpenSans-ExtraBold"/>
              </a:rPr>
              <a:t>216 </a:t>
            </a:r>
            <a:r>
              <a:rPr sz="7200" b="1">
                <a:solidFill>
                  <a:srgbClr val="1E8C00"/>
                </a:solidFill>
                <a:latin typeface="OpenSans-ExtraBold"/>
              </a:rPr>
              <a:t>rutas</a:t>
            </a:r>
          </a:p>
          <a:p>
            <a:pPr algn="l">
              <a:lnSpc>
                <a:spcPct val="125000"/>
              </a:lnSpc>
              <a:spcBef>
                <a:spcPts val="800"/>
              </a:spcBef>
            </a:pPr>
            <a:r>
              <a:rPr sz="2800" b="0">
                <a:solidFill>
                  <a:srgbClr val="5F5F66"/>
                </a:solidFill>
                <a:latin typeface="Open Sans"/>
              </a:rPr>
              <a:t>ninguna sin control de rol o de propiedad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Seguridad en cada petición</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SEGURIDAD Y DATOS</a:t>
            </a:r>
          </a:p>
        </p:txBody>
      </p:sp>
      <p:sp>
        <p:nvSpPr>
          <p:cNvPr id="37" name="Rounded Rectangle 36"/>
          <p:cNvSpPr/>
          <p:nvPr/>
        </p:nvSpPr>
        <p:spPr>
          <a:xfrm>
            <a:off x="16510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057400" y="45974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Sesiones JWT</a:t>
            </a:r>
          </a:p>
          <a:p>
            <a:pPr algn="l">
              <a:lnSpc>
                <a:spcPct val="125000"/>
              </a:lnSpc>
              <a:spcBef>
                <a:spcPts val="1000"/>
              </a:spcBef>
            </a:pPr>
            <a:r>
              <a:rPr sz="2800" b="0">
                <a:solidFill>
                  <a:srgbClr val="BFD9C4"/>
                </a:solidFill>
                <a:latin typeface="Open Sans"/>
              </a:rPr>
              <a:t>Revocables al salir o al cambiar rol o clave</a:t>
            </a:r>
          </a:p>
        </p:txBody>
      </p:sp>
      <p:sp>
        <p:nvSpPr>
          <p:cNvPr id="39" name="Rounded Rectangle 38"/>
          <p:cNvSpPr/>
          <p:nvPr/>
        </p:nvSpPr>
        <p:spPr>
          <a:xfrm>
            <a:off x="87757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182100" y="45974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Rol y propiedad</a:t>
            </a:r>
          </a:p>
          <a:p>
            <a:pPr algn="l">
              <a:lnSpc>
                <a:spcPct val="125000"/>
              </a:lnSpc>
              <a:spcBef>
                <a:spcPts val="1000"/>
              </a:spcBef>
            </a:pPr>
            <a:r>
              <a:rPr sz="2800" b="0">
                <a:solidFill>
                  <a:srgbClr val="BFD9C4"/>
                </a:solidFill>
                <a:latin typeface="Open Sans"/>
              </a:rPr>
              <a:t>Cada usuario, solo sobre lo suyo</a:t>
            </a:r>
          </a:p>
        </p:txBody>
      </p:sp>
      <p:sp>
        <p:nvSpPr>
          <p:cNvPr id="41" name="Rounded Rectangle 40"/>
          <p:cNvSpPr/>
          <p:nvPr/>
        </p:nvSpPr>
        <p:spPr>
          <a:xfrm>
            <a:off x="159004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306800" y="45974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Límites de uso</a:t>
            </a:r>
          </a:p>
          <a:p>
            <a:pPr algn="l">
              <a:lnSpc>
                <a:spcPct val="125000"/>
              </a:lnSpc>
              <a:spcBef>
                <a:spcPts val="1000"/>
              </a:spcBef>
            </a:pPr>
            <a:r>
              <a:rPr sz="2800" b="0">
                <a:solidFill>
                  <a:srgbClr val="BFD9C4"/>
                </a:solidFill>
                <a:latin typeface="Open Sans"/>
              </a:rPr>
              <a:t>Contra fuerza bruta y abuso de la IA</a:t>
            </a:r>
          </a:p>
        </p:txBody>
      </p:sp>
      <p:sp>
        <p:nvSpPr>
          <p:cNvPr id="43" name="Rounded Rectangle 42"/>
          <p:cNvSpPr/>
          <p:nvPr/>
        </p:nvSpPr>
        <p:spPr>
          <a:xfrm>
            <a:off x="16510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057400" y="78232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Contenido seguro</a:t>
            </a:r>
          </a:p>
          <a:p>
            <a:pPr algn="l">
              <a:lnSpc>
                <a:spcPct val="125000"/>
              </a:lnSpc>
              <a:spcBef>
                <a:spcPts val="1000"/>
              </a:spcBef>
            </a:pPr>
            <a:r>
              <a:rPr sz="2800" b="0">
                <a:solidFill>
                  <a:srgbClr val="BFD9C4"/>
                </a:solidFill>
                <a:latin typeface="Open Sans"/>
              </a:rPr>
              <a:t>Claves con hash y HTML sanitizado</a:t>
            </a:r>
          </a:p>
        </p:txBody>
      </p:sp>
      <p:sp>
        <p:nvSpPr>
          <p:cNvPr id="45" name="Rounded Rectangle 44"/>
          <p:cNvSpPr/>
          <p:nvPr/>
        </p:nvSpPr>
        <p:spPr>
          <a:xfrm>
            <a:off x="87757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182100" y="78232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Ley 1581</a:t>
            </a:r>
          </a:p>
          <a:p>
            <a:pPr algn="l">
              <a:lnSpc>
                <a:spcPct val="125000"/>
              </a:lnSpc>
              <a:spcBef>
                <a:spcPts val="1000"/>
              </a:spcBef>
            </a:pPr>
            <a:r>
              <a:rPr sz="2800" b="0">
                <a:solidFill>
                  <a:srgbClr val="BFD9C4"/>
                </a:solidFill>
                <a:latin typeface="Open Sans"/>
              </a:rPr>
              <a:t>Consentimiento en el servidor y datos descargables</a:t>
            </a:r>
          </a:p>
        </p:txBody>
      </p:sp>
      <p:sp>
        <p:nvSpPr>
          <p:cNvPr id="47" name="Rounded Rectangle 46"/>
          <p:cNvSpPr/>
          <p:nvPr/>
        </p:nvSpPr>
        <p:spPr>
          <a:xfrm>
            <a:off x="159004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6306800" y="7823200"/>
            <a:ext cx="6007100" cy="2108200"/>
          </a:xfrm>
          <a:prstGeom prst="rect">
            <a:avLst/>
          </a:prstGeom>
          <a:noFill/>
        </p:spPr>
        <p:txBody>
          <a:bodyPr wrap="square" lIns="0" rIns="0" tIns="0" bIns="0" anchor="t"/>
          <a:lstStyle/>
          <a:p>
            <a:pPr algn="l">
              <a:lnSpc>
                <a:spcPct val="125000"/>
              </a:lnSpc>
            </a:pPr>
            <a:r>
              <a:rPr sz="3600" b="1">
                <a:solidFill>
                  <a:srgbClr val="FFFFFF"/>
                </a:solidFill>
                <a:latin typeface="Open Sans"/>
              </a:rPr>
              <a:t>Solo la UNAB</a:t>
            </a:r>
          </a:p>
          <a:p>
            <a:pPr algn="l">
              <a:lnSpc>
                <a:spcPct val="125000"/>
              </a:lnSpc>
              <a:spcBef>
                <a:spcPts val="1000"/>
              </a:spcBef>
            </a:pPr>
            <a:r>
              <a:rPr sz="2800" b="0">
                <a:solidFill>
                  <a:srgbClr val="BFD9C4"/>
                </a:solidFill>
                <a:latin typeface="Open Sans"/>
              </a:rPr>
              <a:t>Registro con correo @unab.edu.co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51000" y="3556000"/>
            <a:ext cx="19050000" cy="508000"/>
          </a:xfrm>
          <a:prstGeom prst="rect">
            <a:avLst/>
          </a:prstGeom>
          <a:noFill/>
        </p:spPr>
        <p:txBody>
          <a:bodyPr wrap="square" lIns="0" rIns="0" tIns="0" bIns="0" anchor="t"/>
          <a:lstStyle/>
          <a:p>
            <a:pPr algn="l">
              <a:lnSpc>
                <a:spcPct val="125000"/>
              </a:lnSpc>
            </a:pPr>
            <a:r>
              <a:rPr sz="2800" b="1" spc="300">
                <a:solidFill>
                  <a:srgbClr val="1E8C00"/>
                </a:solidFill>
                <a:latin typeface="Open Sans"/>
              </a:rPr>
              <a:t>INTELIGENCIA ARTIFICIAL</a:t>
            </a:r>
          </a:p>
        </p:txBody>
      </p:sp>
      <p:sp>
        <p:nvSpPr>
          <p:cNvPr id="3" name="TextBox 2"/>
          <p:cNvSpPr txBox="1"/>
          <p:nvPr/>
        </p:nvSpPr>
        <p:spPr>
          <a:xfrm>
            <a:off x="1651000" y="4318000"/>
            <a:ext cx="20574000" cy="3810000"/>
          </a:xfrm>
          <a:prstGeom prst="rect">
            <a:avLst/>
          </a:prstGeom>
          <a:noFill/>
        </p:spPr>
        <p:txBody>
          <a:bodyPr wrap="square" lIns="0" rIns="0" tIns="0" bIns="0" anchor="t"/>
          <a:lstStyle/>
          <a:p>
            <a:pPr algn="l">
              <a:lnSpc>
                <a:spcPct val="102000"/>
              </a:lnSpc>
            </a:pPr>
            <a:r>
              <a:rPr sz="9200" b="1">
                <a:solidFill>
                  <a:srgbClr val="111113"/>
                </a:solidFill>
                <a:latin typeface="OpenSans-ExtraBold"/>
              </a:rPr>
              <a:t>La IA crea el caso, actúa de paciente y clasifica. </a:t>
            </a:r>
            <a:r>
              <a:rPr sz="9200" b="1">
                <a:solidFill>
                  <a:srgbClr val="1E8C00"/>
                </a:solidFill>
                <a:latin typeface="OpenSans-ExtraBold"/>
              </a:rPr>
              <a:t>La nota la pone una fórmula.</a:t>
            </a:r>
          </a:p>
        </p:txBody>
      </p:sp>
      <p:sp>
        <p:nvSpPr>
          <p:cNvPr id="4" name="Rectangle 3"/>
          <p:cNvSpPr/>
          <p:nvPr/>
        </p:nvSpPr>
        <p:spPr>
          <a:xfrm>
            <a:off x="1651000" y="8763000"/>
            <a:ext cx="1219200" cy="50800"/>
          </a:xfrm>
          <a:prstGeom prst="rect">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51000" y="9144000"/>
            <a:ext cx="17780000" cy="1397000"/>
          </a:xfrm>
          <a:prstGeom prst="rect">
            <a:avLst/>
          </a:prstGeom>
          <a:noFill/>
        </p:spPr>
        <p:txBody>
          <a:bodyPr wrap="square" lIns="0" rIns="0" tIns="0" bIns="0" anchor="t"/>
          <a:lstStyle/>
          <a:p>
            <a:pPr algn="l">
              <a:lnSpc>
                <a:spcPct val="125000"/>
              </a:lnSpc>
            </a:pPr>
            <a:r>
              <a:rPr sz="3600" b="0">
                <a:solidFill>
                  <a:srgbClr val="5F5F66"/>
                </a:solidFill>
                <a:latin typeface="Open Sans"/>
              </a:rPr>
              <a:t>Tres agentes sobre la API de Google Gemini, con reglas programadas alrededor de cada respuesta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Tres agentes, tres momentos</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LOS AGENTES</a:t>
            </a:r>
          </a:p>
        </p:txBody>
      </p:sp>
      <p:sp>
        <p:nvSpPr>
          <p:cNvPr id="37" name="Rounded Rectangle 36"/>
          <p:cNvSpPr/>
          <p:nvPr/>
        </p:nvSpPr>
        <p:spPr>
          <a:xfrm>
            <a:off x="1651000" y="4191000"/>
            <a:ext cx="6350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082800" y="4622800"/>
            <a:ext cx="5486400" cy="3200400"/>
          </a:xfrm>
          <a:prstGeom prst="rect">
            <a:avLst/>
          </a:prstGeom>
          <a:noFill/>
        </p:spPr>
        <p:txBody>
          <a:bodyPr wrap="square" lIns="0" rIns="0" tIns="0" bIns="0" anchor="t"/>
          <a:lstStyle/>
          <a:p>
            <a:pPr algn="l">
              <a:lnSpc>
                <a:spcPct val="125000"/>
              </a:lnSpc>
            </a:pPr>
            <a:r>
              <a:rPr sz="2600" b="1">
                <a:solidFill>
                  <a:srgbClr val="1E8C00"/>
                </a:solidFill>
                <a:latin typeface="Open Sans"/>
              </a:rPr>
              <a:t>1 · Al iniciar</a:t>
            </a:r>
          </a:p>
          <a:p>
            <a:pPr algn="l">
              <a:lnSpc>
                <a:spcPct val="125000"/>
              </a:lnSpc>
              <a:spcBef>
                <a:spcPts val="1000"/>
              </a:spcBef>
            </a:pPr>
            <a:r>
              <a:rPr sz="4400" b="1">
                <a:solidFill>
                  <a:srgbClr val="111113"/>
                </a:solidFill>
                <a:latin typeface="Open Sans"/>
              </a:rPr>
              <a:t>Generador</a:t>
            </a:r>
          </a:p>
          <a:p>
            <a:pPr algn="l">
              <a:lnSpc>
                <a:spcPct val="125000"/>
              </a:lnSpc>
              <a:spcBef>
                <a:spcPts val="1000"/>
              </a:spcBef>
            </a:pPr>
            <a:r>
              <a:rPr sz="2800" b="0">
                <a:solidFill>
                  <a:srgbClr val="5F5F66"/>
                </a:solidFill>
                <a:latin typeface="Open Sans"/>
              </a:rPr>
              <a:t>Escribe el caso, su diagnóstico real y su rúbrica</a:t>
            </a:r>
          </a:p>
        </p:txBody>
      </p:sp>
      <p:sp>
        <p:nvSpPr>
          <p:cNvPr id="39" name="Right Arrow 38"/>
          <p:cNvSpPr/>
          <p:nvPr/>
        </p:nvSpPr>
        <p:spPr>
          <a:xfrm>
            <a:off x="8153400" y="6032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17000" y="4191000"/>
            <a:ext cx="6350000" cy="4064000"/>
          </a:xfrm>
          <a:prstGeom prst="roundRect">
            <a:avLst>
              <a:gd name="adj" fmla="val 625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448800" y="4622800"/>
            <a:ext cx="5486400" cy="3200400"/>
          </a:xfrm>
          <a:prstGeom prst="rect">
            <a:avLst/>
          </a:prstGeom>
          <a:noFill/>
        </p:spPr>
        <p:txBody>
          <a:bodyPr wrap="square" lIns="0" rIns="0" tIns="0" bIns="0" anchor="t"/>
          <a:lstStyle/>
          <a:p>
            <a:pPr algn="l">
              <a:lnSpc>
                <a:spcPct val="125000"/>
              </a:lnSpc>
            </a:pPr>
            <a:r>
              <a:rPr sz="2600" b="1">
                <a:solidFill>
                  <a:srgbClr val="3DD700"/>
                </a:solidFill>
                <a:latin typeface="Open Sans"/>
              </a:rPr>
              <a:t>2 · Cada turno</a:t>
            </a:r>
          </a:p>
          <a:p>
            <a:pPr algn="l">
              <a:lnSpc>
                <a:spcPct val="125000"/>
              </a:lnSpc>
              <a:spcBef>
                <a:spcPts val="1000"/>
              </a:spcBef>
            </a:pPr>
            <a:r>
              <a:rPr sz="4400" b="1">
                <a:solidFill>
                  <a:srgbClr val="FFFFFF"/>
                </a:solidFill>
                <a:latin typeface="Open Sans"/>
              </a:rPr>
              <a:t>Paciente</a:t>
            </a:r>
          </a:p>
          <a:p>
            <a:pPr algn="l">
              <a:lnSpc>
                <a:spcPct val="125000"/>
              </a:lnSpc>
              <a:spcBef>
                <a:spcPts val="1000"/>
              </a:spcBef>
            </a:pPr>
            <a:r>
              <a:rPr sz="2800" b="0">
                <a:solidFill>
                  <a:srgbClr val="BFD9C4"/>
                </a:solidFill>
                <a:latin typeface="Open Sans"/>
              </a:rPr>
              <a:t>Responde como un paciente real y no conoce su diagnóstico</a:t>
            </a:r>
          </a:p>
        </p:txBody>
      </p:sp>
      <p:sp>
        <p:nvSpPr>
          <p:cNvPr id="42" name="Right Arrow 41"/>
          <p:cNvSpPr/>
          <p:nvPr/>
        </p:nvSpPr>
        <p:spPr>
          <a:xfrm>
            <a:off x="15519400" y="6032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6383000" y="4191000"/>
            <a:ext cx="6350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6814800" y="4622800"/>
            <a:ext cx="5486400" cy="3200400"/>
          </a:xfrm>
          <a:prstGeom prst="rect">
            <a:avLst/>
          </a:prstGeom>
          <a:noFill/>
        </p:spPr>
        <p:txBody>
          <a:bodyPr wrap="square" lIns="0" rIns="0" tIns="0" bIns="0" anchor="t"/>
          <a:lstStyle/>
          <a:p>
            <a:pPr algn="l">
              <a:lnSpc>
                <a:spcPct val="125000"/>
              </a:lnSpc>
            </a:pPr>
            <a:r>
              <a:rPr sz="2600" b="1">
                <a:solidFill>
                  <a:srgbClr val="1E8C00"/>
                </a:solidFill>
                <a:latin typeface="Open Sans"/>
              </a:rPr>
              <a:t>3 · Al cerrar</a:t>
            </a:r>
          </a:p>
          <a:p>
            <a:pPr algn="l">
              <a:lnSpc>
                <a:spcPct val="125000"/>
              </a:lnSpc>
              <a:spcBef>
                <a:spcPts val="1000"/>
              </a:spcBef>
            </a:pPr>
            <a:r>
              <a:rPr sz="4400" b="1">
                <a:solidFill>
                  <a:srgbClr val="111113"/>
                </a:solidFill>
                <a:latin typeface="Open Sans"/>
              </a:rPr>
              <a:t>Evaluador</a:t>
            </a:r>
          </a:p>
          <a:p>
            <a:pPr algn="l">
              <a:lnSpc>
                <a:spcPct val="125000"/>
              </a:lnSpc>
              <a:spcBef>
                <a:spcPts val="1000"/>
              </a:spcBef>
            </a:pPr>
            <a:r>
              <a:rPr sz="2800" b="0">
                <a:solidFill>
                  <a:srgbClr val="5F5F66"/>
                </a:solidFill>
                <a:latin typeface="Open Sans"/>
              </a:rPr>
              <a:t>Clasifica lo cubierto y lo omitido, y redacta la retroalimentación</a:t>
            </a:r>
          </a:p>
        </p:txBody>
      </p:sp>
      <p:sp>
        <p:nvSpPr>
          <p:cNvPr id="45" name="Rounded Rectangle 44"/>
          <p:cNvSpPr/>
          <p:nvPr/>
        </p:nvSpPr>
        <p:spPr>
          <a:xfrm>
            <a:off x="1651000" y="8763000"/>
            <a:ext cx="21082000" cy="1320800"/>
          </a:xfrm>
          <a:prstGeom prst="roundRect">
            <a:avLst>
              <a:gd name="adj" fmla="val 1923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2108200" y="8763000"/>
            <a:ext cx="20167600" cy="1320800"/>
          </a:xfrm>
          <a:prstGeom prst="rect">
            <a:avLst/>
          </a:prstGeom>
          <a:noFill/>
        </p:spPr>
        <p:txBody>
          <a:bodyPr wrap="square" lIns="0" rIns="0" tIns="0" bIns="0" anchor="ctr"/>
          <a:lstStyle/>
          <a:p>
            <a:pPr algn="l">
              <a:lnSpc>
                <a:spcPct val="125000"/>
              </a:lnSpc>
            </a:pPr>
            <a:r>
              <a:rPr sz="3000" b="1">
                <a:solidFill>
                  <a:srgbClr val="111113"/>
                </a:solidFill>
                <a:latin typeface="Open Sans"/>
              </a:rPr>
              <a:t>Exploración:</a:t>
            </a:r>
            <a:r>
              <a:rPr sz="3000" b="0">
                <a:solidFill>
                  <a:srgbClr val="111113"/>
                </a:solidFill>
                <a:latin typeface="Open Sans"/>
              </a:rPr>
              <a:t> los hallazgos los escribe el generador; al pedirlos, se leen del caso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Una consulta completa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LA SIMULACIÓN</a:t>
            </a:r>
          </a:p>
        </p:txBody>
      </p:sp>
      <p:sp>
        <p:nvSpPr>
          <p:cNvPr id="37" name="Rounded Rectangle 36"/>
          <p:cNvSpPr/>
          <p:nvPr/>
        </p:nvSpPr>
        <p:spPr>
          <a:xfrm>
            <a:off x="1651000" y="4064000"/>
            <a:ext cx="13970000" cy="6604000"/>
          </a:xfrm>
          <a:prstGeom prst="roundRect">
            <a:avLst>
              <a:gd name="adj" fmla="val 3076"/>
            </a:avLst>
          </a:prstGeom>
          <a:solidFill>
            <a:srgbClr val="0E0E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Pantalla de la simulación: chat con el paciente virtual, panel de examen físico y notas de la anamnesis"/>
          <p:cNvPicPr>
            <a:picLocks noChangeAspect="1"/>
          </p:cNvPicPr>
          <p:nvPr/>
        </p:nvPicPr>
        <p:blipFill>
          <a:blip r:embed="rId3"/>
          <a:stretch>
            <a:fillRect/>
          </a:stretch>
        </p:blipFill>
        <p:spPr>
          <a:xfrm>
            <a:off x="1651000" y="4072850"/>
            <a:ext cx="13970000" cy="6586301"/>
          </a:xfrm>
          <a:prstGeom prst="rect">
            <a:avLst/>
          </a:prstGeom>
        </p:spPr>
      </p:pic>
      <p:sp>
        <p:nvSpPr>
          <p:cNvPr id="39" name="TextBox 38"/>
          <p:cNvSpPr txBox="1"/>
          <p:nvPr/>
        </p:nvSpPr>
        <p:spPr>
          <a:xfrm>
            <a:off x="16256000" y="4572000"/>
            <a:ext cx="6477000" cy="762000"/>
          </a:xfrm>
          <a:prstGeom prst="rect">
            <a:avLst/>
          </a:prstGeom>
          <a:noFill/>
        </p:spPr>
        <p:txBody>
          <a:bodyPr wrap="square" lIns="0" rIns="0" tIns="0" bIns="0" anchor="t"/>
          <a:lstStyle/>
          <a:p>
            <a:pPr algn="l">
              <a:lnSpc>
                <a:spcPct val="125000"/>
              </a:lnSpc>
            </a:pPr>
            <a:r>
              <a:rPr sz="3200" b="1">
                <a:solidFill>
                  <a:srgbClr val="1E8C00"/>
                </a:solidFill>
                <a:latin typeface="Open Sans"/>
              </a:rPr>
              <a:t>1</a:t>
            </a:r>
            <a:r>
              <a:rPr sz="3200" b="0">
                <a:solidFill>
                  <a:srgbClr val="111113"/>
                </a:solidFill>
                <a:latin typeface="Open Sans"/>
              </a:rPr>
              <a:t>   </a:t>
            </a:r>
            <a:r>
              <a:rPr sz="3200" b="1">
                <a:solidFill>
                  <a:srgbClr val="111113"/>
                </a:solidFill>
                <a:latin typeface="Open Sans"/>
              </a:rPr>
              <a:t>Entrevista</a:t>
            </a:r>
            <a:r>
              <a:rPr sz="3200" b="0">
                <a:solidFill>
                  <a:srgbClr val="111113"/>
                </a:solidFill>
                <a:latin typeface="Open Sans"/>
              </a:rPr>
              <a:t> libre</a:t>
            </a:r>
          </a:p>
        </p:txBody>
      </p:sp>
      <p:sp>
        <p:nvSpPr>
          <p:cNvPr id="40" name="TextBox 39"/>
          <p:cNvSpPr txBox="1"/>
          <p:nvPr/>
        </p:nvSpPr>
        <p:spPr>
          <a:xfrm>
            <a:off x="16256000" y="5740400"/>
            <a:ext cx="6477000" cy="762000"/>
          </a:xfrm>
          <a:prstGeom prst="rect">
            <a:avLst/>
          </a:prstGeom>
          <a:noFill/>
        </p:spPr>
        <p:txBody>
          <a:bodyPr wrap="square" lIns="0" rIns="0" tIns="0" bIns="0" anchor="t"/>
          <a:lstStyle/>
          <a:p>
            <a:pPr algn="l">
              <a:lnSpc>
                <a:spcPct val="125000"/>
              </a:lnSpc>
            </a:pPr>
            <a:r>
              <a:rPr sz="3200" b="1">
                <a:solidFill>
                  <a:srgbClr val="1E8C00"/>
                </a:solidFill>
                <a:latin typeface="Open Sans"/>
              </a:rPr>
              <a:t>2</a:t>
            </a:r>
            <a:r>
              <a:rPr sz="3200" b="0">
                <a:solidFill>
                  <a:srgbClr val="111113"/>
                </a:solidFill>
                <a:latin typeface="Open Sans"/>
              </a:rPr>
              <a:t>   </a:t>
            </a:r>
            <a:r>
              <a:rPr sz="3200" b="1">
                <a:solidFill>
                  <a:srgbClr val="111113"/>
                </a:solidFill>
                <a:latin typeface="Open Sans"/>
              </a:rPr>
              <a:t>Examen</a:t>
            </a:r>
            <a:r>
              <a:rPr sz="3200" b="0">
                <a:solidFill>
                  <a:srgbClr val="111113"/>
                </a:solidFill>
                <a:latin typeface="Open Sans"/>
              </a:rPr>
              <a:t> físico</a:t>
            </a:r>
          </a:p>
        </p:txBody>
      </p:sp>
      <p:sp>
        <p:nvSpPr>
          <p:cNvPr id="41" name="TextBox 40"/>
          <p:cNvSpPr txBox="1"/>
          <p:nvPr/>
        </p:nvSpPr>
        <p:spPr>
          <a:xfrm>
            <a:off x="16256000" y="6908800"/>
            <a:ext cx="6477000" cy="762000"/>
          </a:xfrm>
          <a:prstGeom prst="rect">
            <a:avLst/>
          </a:prstGeom>
          <a:noFill/>
        </p:spPr>
        <p:txBody>
          <a:bodyPr wrap="square" lIns="0" rIns="0" tIns="0" bIns="0" anchor="t"/>
          <a:lstStyle/>
          <a:p>
            <a:pPr algn="l">
              <a:lnSpc>
                <a:spcPct val="125000"/>
              </a:lnSpc>
            </a:pPr>
            <a:r>
              <a:rPr sz="3200" b="1">
                <a:solidFill>
                  <a:srgbClr val="1E8C00"/>
                </a:solidFill>
                <a:latin typeface="Open Sans"/>
              </a:rPr>
              <a:t>3</a:t>
            </a:r>
            <a:r>
              <a:rPr sz="3200" b="0">
                <a:solidFill>
                  <a:srgbClr val="111113"/>
                </a:solidFill>
                <a:latin typeface="Open Sans"/>
              </a:rPr>
              <a:t>   </a:t>
            </a:r>
            <a:r>
              <a:rPr sz="3200" b="1">
                <a:solidFill>
                  <a:srgbClr val="111113"/>
                </a:solidFill>
                <a:latin typeface="Open Sans"/>
              </a:rPr>
              <a:t>Paraclínicos</a:t>
            </a:r>
          </a:p>
        </p:txBody>
      </p:sp>
      <p:sp>
        <p:nvSpPr>
          <p:cNvPr id="42" name="TextBox 41"/>
          <p:cNvSpPr txBox="1"/>
          <p:nvPr/>
        </p:nvSpPr>
        <p:spPr>
          <a:xfrm>
            <a:off x="16256000" y="8077200"/>
            <a:ext cx="6477000" cy="762000"/>
          </a:xfrm>
          <a:prstGeom prst="rect">
            <a:avLst/>
          </a:prstGeom>
          <a:noFill/>
        </p:spPr>
        <p:txBody>
          <a:bodyPr wrap="square" lIns="0" rIns="0" tIns="0" bIns="0" anchor="t"/>
          <a:lstStyle/>
          <a:p>
            <a:pPr algn="l">
              <a:lnSpc>
                <a:spcPct val="125000"/>
              </a:lnSpc>
            </a:pPr>
            <a:r>
              <a:rPr sz="3200" b="1">
                <a:solidFill>
                  <a:srgbClr val="1E8C00"/>
                </a:solidFill>
                <a:latin typeface="Open Sans"/>
              </a:rPr>
              <a:t>4</a:t>
            </a:r>
            <a:r>
              <a:rPr sz="3200" b="0">
                <a:solidFill>
                  <a:srgbClr val="111113"/>
                </a:solidFill>
                <a:latin typeface="Open Sans"/>
              </a:rPr>
              <a:t>   </a:t>
            </a:r>
            <a:r>
              <a:rPr sz="3200" b="1">
                <a:solidFill>
                  <a:srgbClr val="111113"/>
                </a:solidFill>
                <a:latin typeface="Open Sans"/>
              </a:rPr>
              <a:t>Diagnóstico</a:t>
            </a:r>
            <a:r>
              <a:rPr sz="3200" b="0">
                <a:solidFill>
                  <a:srgbClr val="111113"/>
                </a:solidFill>
                <a:latin typeface="Open Sans"/>
              </a:rPr>
              <a:t> y plan</a:t>
            </a:r>
          </a:p>
        </p:txBody>
      </p:sp>
      <p:sp>
        <p:nvSpPr>
          <p:cNvPr id="43" name="TextBox 42"/>
          <p:cNvSpPr txBox="1"/>
          <p:nvPr/>
        </p:nvSpPr>
        <p:spPr>
          <a:xfrm>
            <a:off x="16256000" y="9245600"/>
            <a:ext cx="6477000" cy="762000"/>
          </a:xfrm>
          <a:prstGeom prst="rect">
            <a:avLst/>
          </a:prstGeom>
          <a:noFill/>
        </p:spPr>
        <p:txBody>
          <a:bodyPr wrap="square" lIns="0" rIns="0" tIns="0" bIns="0" anchor="t"/>
          <a:lstStyle/>
          <a:p>
            <a:pPr algn="l">
              <a:lnSpc>
                <a:spcPct val="125000"/>
              </a:lnSpc>
            </a:pPr>
            <a:r>
              <a:rPr sz="3200" b="1">
                <a:solidFill>
                  <a:srgbClr val="1E8C00"/>
                </a:solidFill>
                <a:latin typeface="Open Sans"/>
              </a:rPr>
              <a:t>5</a:t>
            </a:r>
            <a:r>
              <a:rPr sz="3200" b="0">
                <a:solidFill>
                  <a:srgbClr val="111113"/>
                </a:solidFill>
                <a:latin typeface="Open Sans"/>
              </a:rPr>
              <a:t>   </a:t>
            </a:r>
            <a:r>
              <a:rPr sz="3200" b="1">
                <a:solidFill>
                  <a:srgbClr val="111113"/>
                </a:solidFill>
                <a:latin typeface="Open Sans"/>
              </a:rPr>
              <a:t>Nota</a:t>
            </a:r>
            <a:r>
              <a:rPr sz="3200" b="0">
                <a:solidFill>
                  <a:srgbClr val="111113"/>
                </a:solidFill>
                <a:latin typeface="Open Sans"/>
              </a:rPr>
              <a:t> y consejos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Cinco dimensiones, peso fijo</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LA CALIFICACIÓN</a:t>
            </a:r>
          </a:p>
        </p:txBody>
      </p:sp>
      <p:sp>
        <p:nvSpPr>
          <p:cNvPr id="37" name="TextBox 36"/>
          <p:cNvSpPr txBox="1"/>
          <p:nvPr/>
        </p:nvSpPr>
        <p:spPr>
          <a:xfrm>
            <a:off x="1651000" y="4191000"/>
            <a:ext cx="10922000" cy="635000"/>
          </a:xfrm>
          <a:prstGeom prst="rect">
            <a:avLst/>
          </a:prstGeom>
          <a:noFill/>
        </p:spPr>
        <p:txBody>
          <a:bodyPr wrap="square" lIns="0" rIns="0" tIns="0" bIns="0" anchor="t"/>
          <a:lstStyle/>
          <a:p>
            <a:pPr algn="l">
              <a:lnSpc>
                <a:spcPct val="125000"/>
              </a:lnSpc>
            </a:pPr>
            <a:r>
              <a:rPr sz="3200" b="1">
                <a:solidFill>
                  <a:srgbClr val="111113"/>
                </a:solidFill>
                <a:latin typeface="Open Sans"/>
              </a:rPr>
              <a:t>30 %</a:t>
            </a:r>
            <a:r>
              <a:rPr sz="3200" b="0">
                <a:solidFill>
                  <a:srgbClr val="111113"/>
                </a:solidFill>
                <a:latin typeface="Open Sans"/>
              </a:rPr>
              <a:t>   Anamnesis</a:t>
            </a:r>
          </a:p>
        </p:txBody>
      </p:sp>
      <p:sp>
        <p:nvSpPr>
          <p:cNvPr id="38" name="Rounded Rectangle 37"/>
          <p:cNvSpPr/>
          <p:nvPr/>
        </p:nvSpPr>
        <p:spPr>
          <a:xfrm>
            <a:off x="1651000" y="4902200"/>
            <a:ext cx="9144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51000" y="5461000"/>
            <a:ext cx="10922000" cy="635000"/>
          </a:xfrm>
          <a:prstGeom prst="rect">
            <a:avLst/>
          </a:prstGeom>
          <a:noFill/>
        </p:spPr>
        <p:txBody>
          <a:bodyPr wrap="square" lIns="0" rIns="0" tIns="0" bIns="0" anchor="t"/>
          <a:lstStyle/>
          <a:p>
            <a:pPr algn="l">
              <a:lnSpc>
                <a:spcPct val="125000"/>
              </a:lnSpc>
            </a:pPr>
            <a:r>
              <a:rPr sz="3200" b="1">
                <a:solidFill>
                  <a:srgbClr val="111113"/>
                </a:solidFill>
                <a:latin typeface="Open Sans"/>
              </a:rPr>
              <a:t>25 %</a:t>
            </a:r>
            <a:r>
              <a:rPr sz="3200" b="0">
                <a:solidFill>
                  <a:srgbClr val="111113"/>
                </a:solidFill>
                <a:latin typeface="Open Sans"/>
              </a:rPr>
              <a:t>   Razonamiento clínico</a:t>
            </a:r>
          </a:p>
        </p:txBody>
      </p:sp>
      <p:sp>
        <p:nvSpPr>
          <p:cNvPr id="40" name="Rounded Rectangle 39"/>
          <p:cNvSpPr/>
          <p:nvPr/>
        </p:nvSpPr>
        <p:spPr>
          <a:xfrm>
            <a:off x="1651000" y="6172200"/>
            <a:ext cx="7620000" cy="254000"/>
          </a:xfrm>
          <a:prstGeom prst="roundRect">
            <a:avLst>
              <a:gd name="adj" fmla="val 50000"/>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51000" y="6731000"/>
            <a:ext cx="10922000" cy="635000"/>
          </a:xfrm>
          <a:prstGeom prst="rect">
            <a:avLst/>
          </a:prstGeom>
          <a:noFill/>
        </p:spPr>
        <p:txBody>
          <a:bodyPr wrap="square" lIns="0" rIns="0" tIns="0" bIns="0" anchor="t"/>
          <a:lstStyle/>
          <a:p>
            <a:pPr algn="l">
              <a:lnSpc>
                <a:spcPct val="125000"/>
              </a:lnSpc>
            </a:pPr>
            <a:r>
              <a:rPr sz="3200" b="1">
                <a:solidFill>
                  <a:srgbClr val="111113"/>
                </a:solidFill>
                <a:latin typeface="Open Sans"/>
              </a:rPr>
              <a:t>20 %</a:t>
            </a:r>
            <a:r>
              <a:rPr sz="3200" b="0">
                <a:solidFill>
                  <a:srgbClr val="111113"/>
                </a:solidFill>
                <a:latin typeface="Open Sans"/>
              </a:rPr>
              <a:t>   Hallazgos clave</a:t>
            </a:r>
          </a:p>
        </p:txBody>
      </p:sp>
      <p:sp>
        <p:nvSpPr>
          <p:cNvPr id="42" name="Rounded Rectangle 41"/>
          <p:cNvSpPr/>
          <p:nvPr/>
        </p:nvSpPr>
        <p:spPr>
          <a:xfrm>
            <a:off x="1651000" y="7442200"/>
            <a:ext cx="6096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651000" y="8001000"/>
            <a:ext cx="10922000" cy="635000"/>
          </a:xfrm>
          <a:prstGeom prst="rect">
            <a:avLst/>
          </a:prstGeom>
          <a:noFill/>
        </p:spPr>
        <p:txBody>
          <a:bodyPr wrap="square" lIns="0" rIns="0" tIns="0" bIns="0" anchor="t"/>
          <a:lstStyle/>
          <a:p>
            <a:pPr algn="l">
              <a:lnSpc>
                <a:spcPct val="125000"/>
              </a:lnSpc>
            </a:pPr>
            <a:r>
              <a:rPr sz="3200" b="1">
                <a:solidFill>
                  <a:srgbClr val="111113"/>
                </a:solidFill>
                <a:latin typeface="Open Sans"/>
              </a:rPr>
              <a:t>15 %</a:t>
            </a:r>
            <a:r>
              <a:rPr sz="3200" b="0">
                <a:solidFill>
                  <a:srgbClr val="111113"/>
                </a:solidFill>
                <a:latin typeface="Open Sans"/>
              </a:rPr>
              <a:t>   Examen y paraclínicos</a:t>
            </a:r>
          </a:p>
        </p:txBody>
      </p:sp>
      <p:sp>
        <p:nvSpPr>
          <p:cNvPr id="44" name="Rounded Rectangle 43"/>
          <p:cNvSpPr/>
          <p:nvPr/>
        </p:nvSpPr>
        <p:spPr>
          <a:xfrm>
            <a:off x="1651000" y="8712200"/>
            <a:ext cx="4572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51000" y="9271000"/>
            <a:ext cx="10922000" cy="635000"/>
          </a:xfrm>
          <a:prstGeom prst="rect">
            <a:avLst/>
          </a:prstGeom>
          <a:noFill/>
        </p:spPr>
        <p:txBody>
          <a:bodyPr wrap="square" lIns="0" rIns="0" tIns="0" bIns="0" anchor="t"/>
          <a:lstStyle/>
          <a:p>
            <a:pPr algn="l">
              <a:lnSpc>
                <a:spcPct val="125000"/>
              </a:lnSpc>
            </a:pPr>
            <a:r>
              <a:rPr sz="3200" b="1">
                <a:solidFill>
                  <a:srgbClr val="111113"/>
                </a:solidFill>
                <a:latin typeface="Open Sans"/>
              </a:rPr>
              <a:t>10 %</a:t>
            </a:r>
            <a:r>
              <a:rPr sz="3200" b="0">
                <a:solidFill>
                  <a:srgbClr val="111113"/>
                </a:solidFill>
                <a:latin typeface="Open Sans"/>
              </a:rPr>
              <a:t>   Comunicación</a:t>
            </a:r>
          </a:p>
        </p:txBody>
      </p:sp>
      <p:sp>
        <p:nvSpPr>
          <p:cNvPr id="46" name="Rounded Rectangle 45"/>
          <p:cNvSpPr/>
          <p:nvPr/>
        </p:nvSpPr>
        <p:spPr>
          <a:xfrm>
            <a:off x="1651000" y="9982200"/>
            <a:ext cx="3048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3335000" y="4191000"/>
            <a:ext cx="9398000" cy="3302000"/>
          </a:xfrm>
          <a:prstGeom prst="roundRect">
            <a:avLst>
              <a:gd name="adj" fmla="val 7692"/>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3792200" y="4648200"/>
            <a:ext cx="8483600" cy="2387600"/>
          </a:xfrm>
          <a:prstGeom prst="rect">
            <a:avLst/>
          </a:prstGeom>
          <a:noFill/>
        </p:spPr>
        <p:txBody>
          <a:bodyPr wrap="square" lIns="0" rIns="0" tIns="0" bIns="0" anchor="t"/>
          <a:lstStyle/>
          <a:p>
            <a:pPr algn="l">
              <a:lnSpc>
                <a:spcPct val="125000"/>
              </a:lnSpc>
            </a:pPr>
            <a:r>
              <a:rPr sz="3600" b="1">
                <a:solidFill>
                  <a:srgbClr val="FFFFFF"/>
                </a:solidFill>
                <a:latin typeface="Open Sans"/>
              </a:rPr>
              <a:t>Razonamiento clínico</a:t>
            </a:r>
          </a:p>
          <a:p>
            <a:pPr algn="l">
              <a:lnSpc>
                <a:spcPct val="125000"/>
              </a:lnSpc>
              <a:spcBef>
                <a:spcPts val="1200"/>
              </a:spcBef>
            </a:pPr>
            <a:r>
              <a:rPr sz="2800" b="0">
                <a:solidFill>
                  <a:srgbClr val="BFD9C4"/>
                </a:solidFill>
                <a:latin typeface="Open Sans"/>
              </a:rPr>
              <a:t>60 % hipótesis</a:t>
            </a:r>
          </a:p>
          <a:p>
            <a:pPr algn="l">
              <a:lnSpc>
                <a:spcPct val="125000"/>
              </a:lnSpc>
              <a:spcBef>
                <a:spcPts val="0"/>
              </a:spcBef>
            </a:pPr>
            <a:r>
              <a:rPr sz="2800" b="0">
                <a:solidFill>
                  <a:srgbClr val="BFD9C4"/>
                </a:solidFill>
                <a:latin typeface="Open Sans"/>
              </a:rPr>
              <a:t>25 % diferenciales</a:t>
            </a:r>
          </a:p>
          <a:p>
            <a:pPr algn="l">
              <a:lnSpc>
                <a:spcPct val="125000"/>
              </a:lnSpc>
              <a:spcBef>
                <a:spcPts val="0"/>
              </a:spcBef>
            </a:pPr>
            <a:r>
              <a:rPr sz="2800" b="0">
                <a:solidFill>
                  <a:srgbClr val="BFD9C4"/>
                </a:solidFill>
                <a:latin typeface="Open Sans"/>
              </a:rPr>
              <a:t>15 % plan</a:t>
            </a:r>
          </a:p>
        </p:txBody>
      </p:sp>
      <p:sp>
        <p:nvSpPr>
          <p:cNvPr id="49" name="Rounded Rectangle 48"/>
          <p:cNvSpPr/>
          <p:nvPr/>
        </p:nvSpPr>
        <p:spPr>
          <a:xfrm>
            <a:off x="13335000" y="7747000"/>
            <a:ext cx="9398000" cy="2413000"/>
          </a:xfrm>
          <a:prstGeom prst="roundRect">
            <a:avLst>
              <a:gd name="adj" fmla="val 1052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792200" y="8204200"/>
            <a:ext cx="8483600" cy="1498600"/>
          </a:xfrm>
          <a:prstGeom prst="rect">
            <a:avLst/>
          </a:prstGeom>
          <a:noFill/>
        </p:spPr>
        <p:txBody>
          <a:bodyPr wrap="square" lIns="0" rIns="0" tIns="0" bIns="0" anchor="t"/>
          <a:lstStyle/>
          <a:p>
            <a:pPr algn="l">
              <a:lnSpc>
                <a:spcPct val="125000"/>
              </a:lnSpc>
            </a:pPr>
            <a:r>
              <a:rPr sz="3600" b="1">
                <a:solidFill>
                  <a:srgbClr val="111113"/>
                </a:solidFill>
                <a:latin typeface="Open Sans"/>
              </a:rPr>
              <a:t>Reproducible</a:t>
            </a:r>
          </a:p>
          <a:p>
            <a:pPr algn="l">
              <a:lnSpc>
                <a:spcPct val="125000"/>
              </a:lnSpc>
              <a:spcBef>
                <a:spcPts val="1000"/>
              </a:spcBef>
            </a:pPr>
            <a:r>
              <a:rPr sz="2800" b="0">
                <a:solidFill>
                  <a:srgbClr val="5F5F66"/>
                </a:solidFill>
                <a:latin typeface="Open Sans"/>
              </a:rPr>
              <a:t>La IA clasifica; scoring.py calcula la nota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Reglas alrededor del modelo</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CONFIABILIDAD</a:t>
            </a:r>
          </a:p>
        </p:txBody>
      </p:sp>
      <p:sp>
        <p:nvSpPr>
          <p:cNvPr id="37" name="Rounded Rectangle 36"/>
          <p:cNvSpPr/>
          <p:nvPr/>
        </p:nvSpPr>
        <p:spPr>
          <a:xfrm>
            <a:off x="1651000" y="4191000"/>
            <a:ext cx="6781800" cy="4572000"/>
          </a:xfrm>
          <a:prstGeom prst="roundRect">
            <a:avLst>
              <a:gd name="adj" fmla="val 5555"/>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59000" y="4699000"/>
            <a:ext cx="5765800" cy="3556000"/>
          </a:xfrm>
          <a:prstGeom prst="rect">
            <a:avLst/>
          </a:prstGeom>
          <a:noFill/>
        </p:spPr>
        <p:txBody>
          <a:bodyPr wrap="square" lIns="0" rIns="0" tIns="0" bIns="0" anchor="t"/>
          <a:lstStyle/>
          <a:p>
            <a:pPr algn="l">
              <a:lnSpc>
                <a:spcPct val="125000"/>
              </a:lnSpc>
            </a:pPr>
            <a:r>
              <a:rPr sz="3800" b="1">
                <a:solidFill>
                  <a:srgbClr val="111113"/>
                </a:solidFill>
                <a:latin typeface="Open Sans"/>
              </a:rPr>
              <a:t>Guardas</a:t>
            </a:r>
          </a:p>
          <a:p>
            <a:pPr algn="l">
              <a:lnSpc>
                <a:spcPct val="125000"/>
              </a:lnSpc>
              <a:spcBef>
                <a:spcPts val="1400"/>
              </a:spcBef>
            </a:pPr>
            <a:r>
              <a:rPr sz="2800" b="0">
                <a:solidFill>
                  <a:srgbClr val="5F5F66"/>
                </a:solidFill>
                <a:latin typeface="Open Sans"/>
              </a:rPr>
              <a:t>Si el paciente nombra el diagnóstico o rompe su papel, la respuesta se reemplaza</a:t>
            </a:r>
          </a:p>
        </p:txBody>
      </p:sp>
      <p:sp>
        <p:nvSpPr>
          <p:cNvPr id="39" name="Rounded Rectangle 38"/>
          <p:cNvSpPr/>
          <p:nvPr/>
        </p:nvSpPr>
        <p:spPr>
          <a:xfrm>
            <a:off x="8788400" y="4191000"/>
            <a:ext cx="6781800" cy="4572000"/>
          </a:xfrm>
          <a:prstGeom prst="roundRect">
            <a:avLst>
              <a:gd name="adj" fmla="val 5555"/>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96400" y="4699000"/>
            <a:ext cx="5765800" cy="3556000"/>
          </a:xfrm>
          <a:prstGeom prst="rect">
            <a:avLst/>
          </a:prstGeom>
          <a:noFill/>
        </p:spPr>
        <p:txBody>
          <a:bodyPr wrap="square" lIns="0" rIns="0" tIns="0" bIns="0" anchor="t"/>
          <a:lstStyle/>
          <a:p>
            <a:pPr algn="l">
              <a:lnSpc>
                <a:spcPct val="125000"/>
              </a:lnSpc>
            </a:pPr>
            <a:r>
              <a:rPr sz="3800" b="1">
                <a:solidFill>
                  <a:srgbClr val="111113"/>
                </a:solidFill>
                <a:latin typeface="Open Sans"/>
              </a:rPr>
              <a:t>Caso validado</a:t>
            </a:r>
          </a:p>
          <a:p>
            <a:pPr algn="l">
              <a:lnSpc>
                <a:spcPct val="125000"/>
              </a:lnSpc>
              <a:spcBef>
                <a:spcPts val="1400"/>
              </a:spcBef>
            </a:pPr>
            <a:r>
              <a:rPr sz="2800" b="0">
                <a:solidFill>
                  <a:srgbClr val="5F5F66"/>
                </a:solidFill>
                <a:latin typeface="Open Sans"/>
              </a:rPr>
              <a:t>El caso del generador se revisa campo por campo</a:t>
            </a:r>
          </a:p>
        </p:txBody>
      </p:sp>
      <p:sp>
        <p:nvSpPr>
          <p:cNvPr id="41" name="Rounded Rectangle 40"/>
          <p:cNvSpPr/>
          <p:nvPr/>
        </p:nvSpPr>
        <p:spPr>
          <a:xfrm>
            <a:off x="15925800" y="4191000"/>
            <a:ext cx="6781800" cy="4572000"/>
          </a:xfrm>
          <a:prstGeom prst="roundRect">
            <a:avLst>
              <a:gd name="adj" fmla="val 555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433800" y="4699000"/>
            <a:ext cx="5765800" cy="3556000"/>
          </a:xfrm>
          <a:prstGeom prst="rect">
            <a:avLst/>
          </a:prstGeom>
          <a:noFill/>
        </p:spPr>
        <p:txBody>
          <a:bodyPr wrap="square" lIns="0" rIns="0" tIns="0" bIns="0" anchor="t"/>
          <a:lstStyle/>
          <a:p>
            <a:pPr algn="l">
              <a:lnSpc>
                <a:spcPct val="125000"/>
              </a:lnSpc>
            </a:pPr>
            <a:r>
              <a:rPr sz="3800" b="1">
                <a:solidFill>
                  <a:srgbClr val="FFFFFF"/>
                </a:solidFill>
                <a:latin typeface="Open Sans"/>
              </a:rPr>
              <a:t>Cadena de modelos</a:t>
            </a:r>
          </a:p>
          <a:p>
            <a:pPr algn="l">
              <a:lnSpc>
                <a:spcPct val="125000"/>
              </a:lnSpc>
              <a:spcBef>
                <a:spcPts val="1400"/>
              </a:spcBef>
            </a:pPr>
            <a:r>
              <a:rPr sz="2800" b="0">
                <a:solidFill>
                  <a:srgbClr val="BFD9C4"/>
                </a:solidFill>
                <a:latin typeface="Open Sans"/>
              </a:rPr>
              <a:t>Gemini 3.6 Flash y cuatro respaldos, con tiempo máximo por intento</a:t>
            </a:r>
          </a:p>
        </p:txBody>
      </p:sp>
      <p:sp>
        <p:nvSpPr>
          <p:cNvPr id="43" name="TextBox 42"/>
          <p:cNvSpPr txBox="1"/>
          <p:nvPr/>
        </p:nvSpPr>
        <p:spPr>
          <a:xfrm>
            <a:off x="1651000" y="9525000"/>
            <a:ext cx="21082000" cy="889000"/>
          </a:xfrm>
          <a:prstGeom prst="rect">
            <a:avLst/>
          </a:prstGeom>
          <a:noFill/>
        </p:spPr>
        <p:txBody>
          <a:bodyPr wrap="square" lIns="0" rIns="0" tIns="0" bIns="0" anchor="t"/>
          <a:lstStyle/>
          <a:p>
            <a:pPr algn="l">
              <a:lnSpc>
                <a:spcPct val="125000"/>
              </a:lnSpc>
            </a:pPr>
            <a:r>
              <a:rPr sz="3600" b="0">
                <a:solidFill>
                  <a:srgbClr val="111113"/>
                </a:solidFill>
                <a:latin typeface="Open Sans"/>
              </a:rPr>
              <a:t>La evaluación pasó de unos </a:t>
            </a:r>
            <a:r>
              <a:rPr sz="3600" b="1">
                <a:solidFill>
                  <a:srgbClr val="111113"/>
                </a:solidFill>
                <a:latin typeface="Open Sans"/>
              </a:rPr>
              <a:t>100 s</a:t>
            </a:r>
            <a:r>
              <a:rPr sz="3600" b="0">
                <a:solidFill>
                  <a:srgbClr val="111113"/>
                </a:solidFill>
                <a:latin typeface="Open Sans"/>
              </a:rPr>
              <a:t> a </a:t>
            </a:r>
            <a:r>
              <a:rPr sz="3600" b="1">
                <a:solidFill>
                  <a:srgbClr val="1E8C00"/>
                </a:solidFill>
                <a:latin typeface="Open Sans"/>
              </a:rPr>
              <a:t>menos de 10 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Las cinco metas se cumplieron</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RESULTADOS TÉCNICOS · SECCIÓN 7.5</a:t>
            </a:r>
          </a:p>
        </p:txBody>
      </p:sp>
      <p:sp>
        <p:nvSpPr>
          <p:cNvPr id="37" name="Rounded Rectangle 36"/>
          <p:cNvSpPr/>
          <p:nvPr/>
        </p:nvSpPr>
        <p:spPr>
          <a:xfrm>
            <a:off x="16510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082800" y="4622800"/>
            <a:ext cx="4178300" cy="3581400"/>
          </a:xfrm>
          <a:prstGeom prst="rect">
            <a:avLst/>
          </a:prstGeom>
          <a:noFill/>
        </p:spPr>
        <p:txBody>
          <a:bodyPr wrap="square" lIns="0" rIns="0" tIns="0" bIns="0" anchor="t"/>
          <a:lstStyle/>
          <a:p>
            <a:pPr algn="l">
              <a:lnSpc>
                <a:spcPct val="100000"/>
              </a:lnSpc>
            </a:pPr>
            <a:r>
              <a:rPr sz="8400" b="1">
                <a:solidFill>
                  <a:srgbClr val="3DD700"/>
                </a:solidFill>
                <a:latin typeface="OpenSans-ExtraBold"/>
              </a:rPr>
              <a:t>100 %</a:t>
            </a:r>
          </a:p>
          <a:p>
            <a:pPr algn="l">
              <a:lnSpc>
                <a:spcPct val="125000"/>
              </a:lnSpc>
              <a:spcBef>
                <a:spcPts val="1400"/>
              </a:spcBef>
            </a:pPr>
            <a:r>
              <a:rPr sz="2800" b="0">
                <a:solidFill>
                  <a:srgbClr val="FFFFFF"/>
                </a:solidFill>
                <a:latin typeface="Open Sans"/>
              </a:rPr>
              <a:t>sin fuga del diagnóstico en 24 intentos</a:t>
            </a:r>
          </a:p>
          <a:p>
            <a:pPr algn="l">
              <a:lnSpc>
                <a:spcPct val="125000"/>
              </a:lnSpc>
              <a:spcBef>
                <a:spcPts val="1400"/>
              </a:spcBef>
            </a:pPr>
            <a:r>
              <a:rPr sz="2600" b="0">
                <a:solidFill>
                  <a:srgbClr val="BFD9C4"/>
                </a:solidFill>
                <a:latin typeface="Open Sans"/>
              </a:rPr>
              <a:t>Meta ≥ 90 %</a:t>
            </a:r>
          </a:p>
        </p:txBody>
      </p:sp>
      <p:sp>
        <p:nvSpPr>
          <p:cNvPr id="39" name="Rounded Rectangle 38"/>
          <p:cNvSpPr/>
          <p:nvPr/>
        </p:nvSpPr>
        <p:spPr>
          <a:xfrm>
            <a:off x="69977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429500" y="4622800"/>
            <a:ext cx="4178300" cy="3581400"/>
          </a:xfrm>
          <a:prstGeom prst="rect">
            <a:avLst/>
          </a:prstGeom>
          <a:noFill/>
        </p:spPr>
        <p:txBody>
          <a:bodyPr wrap="square" lIns="0" rIns="0" tIns="0" bIns="0" anchor="t"/>
          <a:lstStyle/>
          <a:p>
            <a:pPr algn="l">
              <a:lnSpc>
                <a:spcPct val="100000"/>
              </a:lnSpc>
            </a:pPr>
            <a:r>
              <a:rPr sz="8400" b="1">
                <a:solidFill>
                  <a:srgbClr val="3DD700"/>
                </a:solidFill>
                <a:latin typeface="OpenSans-ExtraBold"/>
              </a:rPr>
              <a:t>5 de 5</a:t>
            </a:r>
          </a:p>
          <a:p>
            <a:pPr algn="l">
              <a:lnSpc>
                <a:spcPct val="125000"/>
              </a:lnSpc>
              <a:spcBef>
                <a:spcPts val="1400"/>
              </a:spcBef>
            </a:pPr>
            <a:r>
              <a:rPr sz="2800" b="0">
                <a:solidFill>
                  <a:srgbClr val="FFFFFF"/>
                </a:solidFill>
                <a:latin typeface="Open Sans"/>
              </a:rPr>
              <a:t>notas estables al evaluar 3 veces</a:t>
            </a:r>
          </a:p>
          <a:p>
            <a:pPr algn="l">
              <a:lnSpc>
                <a:spcPct val="125000"/>
              </a:lnSpc>
              <a:spcBef>
                <a:spcPts val="1400"/>
              </a:spcBef>
            </a:pPr>
            <a:r>
              <a:rPr sz="2600" b="0">
                <a:solidFill>
                  <a:srgbClr val="BFD9C4"/>
                </a:solidFill>
                <a:latin typeface="Open Sans"/>
              </a:rPr>
              <a:t>Máx. 6 puntos</a:t>
            </a:r>
          </a:p>
        </p:txBody>
      </p:sp>
      <p:sp>
        <p:nvSpPr>
          <p:cNvPr id="41" name="Rounded Rectangle 40"/>
          <p:cNvSpPr/>
          <p:nvPr/>
        </p:nvSpPr>
        <p:spPr>
          <a:xfrm>
            <a:off x="123444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776200" y="4622800"/>
            <a:ext cx="4178300" cy="3581400"/>
          </a:xfrm>
          <a:prstGeom prst="rect">
            <a:avLst/>
          </a:prstGeom>
          <a:noFill/>
        </p:spPr>
        <p:txBody>
          <a:bodyPr wrap="square" lIns="0" rIns="0" tIns="0" bIns="0" anchor="t"/>
          <a:lstStyle/>
          <a:p>
            <a:pPr algn="l">
              <a:lnSpc>
                <a:spcPct val="100000"/>
              </a:lnSpc>
            </a:pPr>
            <a:r>
              <a:rPr sz="8400" b="1">
                <a:solidFill>
                  <a:srgbClr val="3DD700"/>
                </a:solidFill>
                <a:latin typeface="OpenSans-ExtraBold"/>
              </a:rPr>
              <a:t>4,7 s</a:t>
            </a:r>
          </a:p>
          <a:p>
            <a:pPr algn="l">
              <a:lnSpc>
                <a:spcPct val="125000"/>
              </a:lnSpc>
              <a:spcBef>
                <a:spcPts val="1400"/>
              </a:spcBef>
            </a:pPr>
            <a:r>
              <a:rPr sz="2800" b="0">
                <a:solidFill>
                  <a:srgbClr val="FFFFFF"/>
                </a:solidFill>
                <a:latin typeface="Open Sans"/>
              </a:rPr>
              <a:t>turno de chat, percentil 90</a:t>
            </a:r>
          </a:p>
          <a:p>
            <a:pPr algn="l">
              <a:lnSpc>
                <a:spcPct val="125000"/>
              </a:lnSpc>
              <a:spcBef>
                <a:spcPts val="1400"/>
              </a:spcBef>
            </a:pPr>
            <a:r>
              <a:rPr sz="2600" b="0">
                <a:solidFill>
                  <a:srgbClr val="BFD9C4"/>
                </a:solidFill>
                <a:latin typeface="Open Sans"/>
              </a:rPr>
              <a:t>Meta ≤ 10 s</a:t>
            </a:r>
          </a:p>
        </p:txBody>
      </p:sp>
      <p:sp>
        <p:nvSpPr>
          <p:cNvPr id="43" name="Rounded Rectangle 42"/>
          <p:cNvSpPr/>
          <p:nvPr/>
        </p:nvSpPr>
        <p:spPr>
          <a:xfrm>
            <a:off x="176911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8122900" y="4622800"/>
            <a:ext cx="4178300" cy="3581400"/>
          </a:xfrm>
          <a:prstGeom prst="rect">
            <a:avLst/>
          </a:prstGeom>
          <a:noFill/>
        </p:spPr>
        <p:txBody>
          <a:bodyPr wrap="square" lIns="0" rIns="0" tIns="0" bIns="0" anchor="t"/>
          <a:lstStyle/>
          <a:p>
            <a:pPr algn="l">
              <a:lnSpc>
                <a:spcPct val="100000"/>
              </a:lnSpc>
            </a:pPr>
            <a:r>
              <a:rPr sz="8400" b="1">
                <a:solidFill>
                  <a:srgbClr val="3DD700"/>
                </a:solidFill>
                <a:latin typeface="OpenSans-ExtraBold"/>
              </a:rPr>
              <a:t>8,0 s</a:t>
            </a:r>
          </a:p>
          <a:p>
            <a:pPr algn="l">
              <a:lnSpc>
                <a:spcPct val="125000"/>
              </a:lnSpc>
              <a:spcBef>
                <a:spcPts val="1400"/>
              </a:spcBef>
            </a:pPr>
            <a:r>
              <a:rPr sz="2800" b="0">
                <a:solidFill>
                  <a:srgbClr val="FFFFFF"/>
                </a:solidFill>
                <a:latin typeface="Open Sans"/>
              </a:rPr>
              <a:t>evaluación final, percentil 90</a:t>
            </a:r>
          </a:p>
          <a:p>
            <a:pPr algn="l">
              <a:lnSpc>
                <a:spcPct val="125000"/>
              </a:lnSpc>
              <a:spcBef>
                <a:spcPts val="1400"/>
              </a:spcBef>
            </a:pPr>
            <a:r>
              <a:rPr sz="2600" b="0">
                <a:solidFill>
                  <a:srgbClr val="BFD9C4"/>
                </a:solidFill>
                <a:latin typeface="Open Sans"/>
              </a:rPr>
              <a:t>Meta ≤ 45 s</a:t>
            </a:r>
          </a:p>
        </p:txBody>
      </p:sp>
      <p:sp>
        <p:nvSpPr>
          <p:cNvPr id="45" name="TextBox 44"/>
          <p:cNvSpPr txBox="1"/>
          <p:nvPr/>
        </p:nvSpPr>
        <p:spPr>
          <a:xfrm>
            <a:off x="1651000" y="9144000"/>
            <a:ext cx="21082000" cy="1270000"/>
          </a:xfrm>
          <a:prstGeom prst="rect">
            <a:avLst/>
          </a:prstGeom>
          <a:noFill/>
        </p:spPr>
        <p:txBody>
          <a:bodyPr wrap="square" lIns="0" rIns="0" tIns="0" bIns="0" anchor="t"/>
          <a:lstStyle/>
          <a:p>
            <a:pPr algn="l">
              <a:lnSpc>
                <a:spcPct val="125000"/>
              </a:lnSpc>
            </a:pPr>
            <a:r>
              <a:rPr sz="2800" b="0">
                <a:solidFill>
                  <a:srgbClr val="5F5F66"/>
                </a:solidFill>
                <a:latin typeface="Open Sans"/>
              </a:rPr>
              <a:t>Corrida del 17 de octubre de 2026 con los agentes reales. Son resultados técnicos: no reemplazan la validación con expertos ni con estudiantes.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El docente organiza y acompaña</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AULA VIRTUAL Y BIBLIOTECA</a:t>
            </a:r>
          </a:p>
        </p:txBody>
      </p:sp>
      <p:pic>
        <p:nvPicPr>
          <p:cNvPr id="37" name="Picture 36" descr="Vista de un curso con módulos y columna lateral"/>
          <p:cNvPicPr>
            <a:picLocks noChangeAspect="1"/>
          </p:cNvPicPr>
          <p:nvPr/>
        </p:nvPicPr>
        <p:blipFill>
          <a:blip r:embed="rId3"/>
          <a:srcRect l="37" r="37"/>
          <a:stretch>
            <a:fillRect/>
          </a:stretch>
        </p:blipFill>
        <p:spPr>
          <a:xfrm>
            <a:off x="1651000" y="4064000"/>
            <a:ext cx="6781800" cy="4241800"/>
          </a:xfrm>
          <a:prstGeom prst="rect">
            <a:avLst/>
          </a:prstGeom>
          <a:ln w="15875">
            <a:solidFill>
              <a:srgbClr val="E3E6E3"/>
            </a:solidFill>
          </a:ln>
        </p:spPr>
      </p:pic>
      <p:sp>
        <p:nvSpPr>
          <p:cNvPr id="38" name="TextBox 37"/>
          <p:cNvSpPr txBox="1"/>
          <p:nvPr/>
        </p:nvSpPr>
        <p:spPr>
          <a:xfrm>
            <a:off x="1651000" y="8559800"/>
            <a:ext cx="6781800" cy="635000"/>
          </a:xfrm>
          <a:prstGeom prst="rect">
            <a:avLst/>
          </a:prstGeom>
          <a:noFill/>
        </p:spPr>
        <p:txBody>
          <a:bodyPr wrap="square" lIns="0" rIns="0" tIns="0" bIns="0" anchor="t"/>
          <a:lstStyle/>
          <a:p>
            <a:pPr algn="l">
              <a:lnSpc>
                <a:spcPct val="125000"/>
              </a:lnSpc>
            </a:pPr>
            <a:r>
              <a:rPr sz="3000" b="1">
                <a:solidFill>
                  <a:srgbClr val="111113"/>
                </a:solidFill>
                <a:latin typeface="Open Sans"/>
              </a:rPr>
              <a:t>Cursos</a:t>
            </a:r>
            <a:r>
              <a:rPr sz="3000" b="0">
                <a:solidFill>
                  <a:srgbClr val="111113"/>
                </a:solidFill>
                <a:latin typeface="Open Sans"/>
              </a:rPr>
              <a:t> y módulos</a:t>
            </a:r>
          </a:p>
        </p:txBody>
      </p:sp>
      <p:pic>
        <p:nvPicPr>
          <p:cNvPr id="39" name="Picture 38" descr="Entrega de una tarea con plazo, reglas y comentarios"/>
          <p:cNvPicPr>
            <a:picLocks noChangeAspect="1"/>
          </p:cNvPicPr>
          <p:nvPr/>
        </p:nvPicPr>
        <p:blipFill>
          <a:blip r:embed="rId4"/>
          <a:srcRect l="37" r="37"/>
          <a:stretch>
            <a:fillRect/>
          </a:stretch>
        </p:blipFill>
        <p:spPr>
          <a:xfrm>
            <a:off x="8788400" y="4064000"/>
            <a:ext cx="6781800" cy="4241800"/>
          </a:xfrm>
          <a:prstGeom prst="rect">
            <a:avLst/>
          </a:prstGeom>
          <a:ln w="15875">
            <a:solidFill>
              <a:srgbClr val="E3E6E3"/>
            </a:solidFill>
          </a:ln>
        </p:spPr>
      </p:pic>
      <p:sp>
        <p:nvSpPr>
          <p:cNvPr id="40" name="TextBox 39"/>
          <p:cNvSpPr txBox="1"/>
          <p:nvPr/>
        </p:nvSpPr>
        <p:spPr>
          <a:xfrm>
            <a:off x="8788400" y="8559800"/>
            <a:ext cx="6781800" cy="635000"/>
          </a:xfrm>
          <a:prstGeom prst="rect">
            <a:avLst/>
          </a:prstGeom>
          <a:noFill/>
        </p:spPr>
        <p:txBody>
          <a:bodyPr wrap="square" lIns="0" rIns="0" tIns="0" bIns="0" anchor="t"/>
          <a:lstStyle/>
          <a:p>
            <a:pPr algn="l">
              <a:lnSpc>
                <a:spcPct val="125000"/>
              </a:lnSpc>
            </a:pPr>
            <a:r>
              <a:rPr sz="3000" b="1">
                <a:solidFill>
                  <a:srgbClr val="111113"/>
                </a:solidFill>
                <a:latin typeface="Open Sans"/>
              </a:rPr>
              <a:t>Entregas</a:t>
            </a:r>
            <a:r>
              <a:rPr sz="3000" b="0">
                <a:solidFill>
                  <a:srgbClr val="111113"/>
                </a:solidFill>
                <a:latin typeface="Open Sans"/>
              </a:rPr>
              <a:t> con comentarios</a:t>
            </a:r>
          </a:p>
        </p:txBody>
      </p:sp>
      <p:pic>
        <p:nvPicPr>
          <p:cNvPr id="41" name="Picture 40" descr="Biblioteca con estantes por tipo, filtros y zoom"/>
          <p:cNvPicPr>
            <a:picLocks noChangeAspect="1"/>
          </p:cNvPicPr>
          <p:nvPr/>
        </p:nvPicPr>
        <p:blipFill>
          <a:blip r:embed="rId5"/>
          <a:srcRect l="37" r="37"/>
          <a:stretch>
            <a:fillRect/>
          </a:stretch>
        </p:blipFill>
        <p:spPr>
          <a:xfrm>
            <a:off x="15925800" y="4064000"/>
            <a:ext cx="6781800" cy="4241800"/>
          </a:xfrm>
          <a:prstGeom prst="rect">
            <a:avLst/>
          </a:prstGeom>
          <a:ln w="15875">
            <a:solidFill>
              <a:srgbClr val="E3E6E3"/>
            </a:solidFill>
          </a:ln>
        </p:spPr>
      </p:pic>
      <p:sp>
        <p:nvSpPr>
          <p:cNvPr id="42" name="TextBox 41"/>
          <p:cNvSpPr txBox="1"/>
          <p:nvPr/>
        </p:nvSpPr>
        <p:spPr>
          <a:xfrm>
            <a:off x="15925800" y="8559800"/>
            <a:ext cx="6781800" cy="635000"/>
          </a:xfrm>
          <a:prstGeom prst="rect">
            <a:avLst/>
          </a:prstGeom>
          <a:noFill/>
        </p:spPr>
        <p:txBody>
          <a:bodyPr wrap="square" lIns="0" rIns="0" tIns="0" bIns="0" anchor="t"/>
          <a:lstStyle/>
          <a:p>
            <a:pPr algn="l">
              <a:lnSpc>
                <a:spcPct val="125000"/>
              </a:lnSpc>
            </a:pPr>
            <a:r>
              <a:rPr sz="3000" b="1">
                <a:solidFill>
                  <a:srgbClr val="111113"/>
                </a:solidFill>
                <a:latin typeface="Open Sans"/>
              </a:rPr>
              <a:t>Biblioteca</a:t>
            </a:r>
            <a:r>
              <a:rPr sz="3000" b="0">
                <a:solidFill>
                  <a:srgbClr val="111113"/>
                </a:solidFill>
                <a:latin typeface="Open Sans"/>
              </a:rPr>
              <a:t> de 433 recursos</a:t>
            </a:r>
          </a:p>
        </p:txBody>
      </p:sp>
      <p:sp>
        <p:nvSpPr>
          <p:cNvPr id="43" name="TextBox 42"/>
          <p:cNvSpPr txBox="1"/>
          <p:nvPr/>
        </p:nvSpPr>
        <p:spPr>
          <a:xfrm>
            <a:off x="1651000" y="9779000"/>
            <a:ext cx="21082000" cy="762000"/>
          </a:xfrm>
          <a:prstGeom prst="rect">
            <a:avLst/>
          </a:prstGeom>
          <a:noFill/>
        </p:spPr>
        <p:txBody>
          <a:bodyPr wrap="square" lIns="0" rIns="0" tIns="0" bIns="0" anchor="t"/>
          <a:lstStyle/>
          <a:p>
            <a:pPr algn="l">
              <a:lnSpc>
                <a:spcPct val="125000"/>
              </a:lnSpc>
            </a:pPr>
            <a:r>
              <a:rPr sz="3200" b="0">
                <a:solidFill>
                  <a:srgbClr val="5F5F66"/>
                </a:solidFill>
                <a:latin typeface="Open Sans"/>
              </a:rPr>
              <a:t>Más: notas con rúbrica, avisos y el </a:t>
            </a:r>
            <a:r>
              <a:rPr sz="3200" b="1">
                <a:solidFill>
                  <a:srgbClr val="5F5F66"/>
                </a:solidFill>
                <a:latin typeface="Open Sans"/>
              </a:rPr>
              <a:t>seguimiento</a:t>
            </a:r>
            <a:r>
              <a:rPr sz="3200" b="0">
                <a:solidFill>
                  <a:srgbClr val="5F5F66"/>
                </a:solidFill>
                <a:latin typeface="Open Sans"/>
              </a:rPr>
              <a:t> de cada estudiante en el simulador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Listo para los expertos</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VALIDACIÓN POR EXPERTOS</a:t>
            </a:r>
          </a:p>
        </p:txBody>
      </p:sp>
      <p:pic>
        <p:nvPicPr>
          <p:cNvPr id="37" name="Picture 36" descr="Portal del experto: escala de 1 a 4 y datos profesionales"/>
          <p:cNvPicPr>
            <a:picLocks noChangeAspect="1"/>
          </p:cNvPicPr>
          <p:nvPr/>
        </p:nvPicPr>
        <p:blipFill>
          <a:blip r:embed="rId3"/>
          <a:srcRect b="478"/>
          <a:stretch>
            <a:fillRect/>
          </a:stretch>
        </p:blipFill>
        <p:spPr>
          <a:xfrm>
            <a:off x="1651000" y="4064000"/>
            <a:ext cx="9144000" cy="6604000"/>
          </a:xfrm>
          <a:prstGeom prst="rect">
            <a:avLst/>
          </a:prstGeom>
          <a:ln w="15875">
            <a:solidFill>
              <a:srgbClr val="E3E6E3"/>
            </a:solidFill>
          </a:ln>
        </p:spPr>
      </p:pic>
      <p:sp>
        <p:nvSpPr>
          <p:cNvPr id="38" name="Rounded Rectangle 37"/>
          <p:cNvSpPr/>
          <p:nvPr/>
        </p:nvSpPr>
        <p:spPr>
          <a:xfrm>
            <a:off x="11303000" y="4064000"/>
            <a:ext cx="11430000" cy="1905000"/>
          </a:xfrm>
          <a:prstGeom prst="roundRect">
            <a:avLst>
              <a:gd name="adj" fmla="val 133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1658600" y="4419600"/>
            <a:ext cx="10718800" cy="1193800"/>
          </a:xfrm>
          <a:prstGeom prst="rect">
            <a:avLst/>
          </a:prstGeom>
          <a:noFill/>
        </p:spPr>
        <p:txBody>
          <a:bodyPr wrap="square" lIns="0" rIns="0" tIns="0" bIns="0" anchor="t"/>
          <a:lstStyle/>
          <a:p>
            <a:pPr algn="l">
              <a:lnSpc>
                <a:spcPct val="125000"/>
              </a:lnSpc>
            </a:pPr>
            <a:r>
              <a:rPr sz="3600" b="1">
                <a:solidFill>
                  <a:srgbClr val="111113"/>
                </a:solidFill>
                <a:latin typeface="Open Sans"/>
              </a:rPr>
              <a:t>Enlace personal</a:t>
            </a:r>
          </a:p>
          <a:p>
            <a:pPr algn="l">
              <a:lnSpc>
                <a:spcPct val="125000"/>
              </a:lnSpc>
              <a:spcBef>
                <a:spcPts val="600"/>
              </a:spcBef>
            </a:pPr>
            <a:r>
              <a:rPr sz="2800" b="0">
                <a:solidFill>
                  <a:srgbClr val="5F5F66"/>
                </a:solidFill>
                <a:latin typeface="Open Sans"/>
              </a:rPr>
              <a:t>32 ítems de 1 a 4, sin crear cuenta</a:t>
            </a:r>
          </a:p>
        </p:txBody>
      </p:sp>
      <p:sp>
        <p:nvSpPr>
          <p:cNvPr id="40" name="Rounded Rectangle 39"/>
          <p:cNvSpPr/>
          <p:nvPr/>
        </p:nvSpPr>
        <p:spPr>
          <a:xfrm>
            <a:off x="11303000" y="6197600"/>
            <a:ext cx="11430000" cy="1905000"/>
          </a:xfrm>
          <a:prstGeom prst="roundRect">
            <a:avLst>
              <a:gd name="adj" fmla="val 133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1658600" y="6553200"/>
            <a:ext cx="10718800" cy="1193800"/>
          </a:xfrm>
          <a:prstGeom prst="rect">
            <a:avLst/>
          </a:prstGeom>
          <a:noFill/>
        </p:spPr>
        <p:txBody>
          <a:bodyPr wrap="square" lIns="0" rIns="0" tIns="0" bIns="0" anchor="t"/>
          <a:lstStyle/>
          <a:p>
            <a:pPr algn="l">
              <a:lnSpc>
                <a:spcPct val="125000"/>
              </a:lnSpc>
            </a:pPr>
            <a:r>
              <a:rPr sz="3600" b="1">
                <a:solidFill>
                  <a:srgbClr val="111113"/>
                </a:solidFill>
                <a:latin typeface="Open Sans"/>
              </a:rPr>
              <a:t>V de Aiken e I-CVI</a:t>
            </a:r>
          </a:p>
          <a:p>
            <a:pPr algn="l">
              <a:lnSpc>
                <a:spcPct val="125000"/>
              </a:lnSpc>
              <a:spcBef>
                <a:spcPts val="600"/>
              </a:spcBef>
            </a:pPr>
            <a:r>
              <a:rPr sz="2800" b="0">
                <a:solidFill>
                  <a:srgbClr val="5F5F66"/>
                </a:solidFill>
                <a:latin typeface="Open Sans"/>
              </a:rPr>
              <a:t>Por ítem y sección, con IC 95 %</a:t>
            </a:r>
          </a:p>
        </p:txBody>
      </p:sp>
      <p:sp>
        <p:nvSpPr>
          <p:cNvPr id="42" name="Rounded Rectangle 41"/>
          <p:cNvSpPr/>
          <p:nvPr/>
        </p:nvSpPr>
        <p:spPr>
          <a:xfrm>
            <a:off x="11303000" y="8331200"/>
            <a:ext cx="11430000" cy="1905000"/>
          </a:xfrm>
          <a:prstGeom prst="roundRect">
            <a:avLst>
              <a:gd name="adj" fmla="val 1333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658600" y="8686800"/>
            <a:ext cx="10718800" cy="1193800"/>
          </a:xfrm>
          <a:prstGeom prst="rect">
            <a:avLst/>
          </a:prstGeom>
          <a:noFill/>
        </p:spPr>
        <p:txBody>
          <a:bodyPr wrap="square" lIns="0" rIns="0" tIns="0" bIns="0" anchor="t"/>
          <a:lstStyle/>
          <a:p>
            <a:pPr algn="l">
              <a:lnSpc>
                <a:spcPct val="125000"/>
              </a:lnSpc>
            </a:pPr>
            <a:r>
              <a:rPr sz="3600" b="1">
                <a:solidFill>
                  <a:srgbClr val="FFFFFF"/>
                </a:solidFill>
                <a:latin typeface="Open Sans"/>
              </a:rPr>
              <a:t>Puntaje a ciegas</a:t>
            </a:r>
          </a:p>
          <a:p>
            <a:pPr algn="l">
              <a:lnSpc>
                <a:spcPct val="125000"/>
              </a:lnSpc>
              <a:spcBef>
                <a:spcPts val="600"/>
              </a:spcBef>
            </a:pPr>
            <a:r>
              <a:rPr sz="2800" b="0">
                <a:solidFill>
                  <a:srgbClr val="BFD9C4"/>
                </a:solidFill>
                <a:latin typeface="Open Sans"/>
              </a:rPr>
              <a:t>Antes de ver la nota de la IA; luego, Bland-Altman</a:t>
            </a:r>
          </a:p>
        </p:txBody>
      </p:sp>
      <p:sp>
        <p:nvSpPr>
          <p:cNvPr id="44" name="TextBox 43"/>
          <p:cNvSpPr txBox="1"/>
          <p:nvPr/>
        </p:nvSpPr>
        <p:spPr>
          <a:xfrm>
            <a:off x="11303000" y="10541000"/>
            <a:ext cx="11430000" cy="635000"/>
          </a:xfrm>
          <a:prstGeom prst="rect">
            <a:avLst/>
          </a:prstGeom>
          <a:noFill/>
        </p:spPr>
        <p:txBody>
          <a:bodyPr wrap="square" lIns="0" rIns="0" tIns="0" bIns="0" anchor="t"/>
          <a:lstStyle/>
          <a:p>
            <a:pPr algn="l">
              <a:lnSpc>
                <a:spcPct val="125000"/>
              </a:lnSpc>
            </a:pPr>
            <a:r>
              <a:rPr sz="2800" b="1">
                <a:solidFill>
                  <a:srgbClr val="1E8C00"/>
                </a:solidFill>
                <a:latin typeface="Open Sans"/>
              </a:rPr>
              <a:t>A hoy: sin respuestas reales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rPr sz="8000" lang="es-CO"/>
              <a:t>Lo que falta, sin rodeos</a:t>
            </a:r>
          </a:p>
        </p:txBody>
      </p:sp>
      <p:sp>
        <p:nvSpPr>
          <p:cNvPr id="36" name="Etiqueta"/>
          <p:cNvSpPr txBox="1"/>
          <p:nvPr/>
        </p:nvSpPr>
        <p:spPr>
          <a:xfrm>
            <a:off x="1651000" y="1168400"/>
            <a:ext cx="16510000" cy="508000"/>
          </a:xfrm>
          <a:prstGeom prst="rect">
            <a:avLst/>
          </a:prstGeom>
          <a:noFill/>
        </p:spPr>
        <p:txBody>
          <a:bodyPr wrap="square" lIns="0" rIns="0" tIns="0" bIns="0" anchor="t"/>
          <a:lstStyle/>
          <a:p>
            <a:pPr algn="l">
              <a:lnSpc>
                <a:spcPct val="125000"/>
              </a:lnSpc>
            </a:pPr>
            <a:r>
              <a:rPr sz="2600" b="1" spc="300">
                <a:solidFill>
                  <a:srgbClr val="1E8C00"/>
                </a:solidFill>
                <a:latin typeface="Open Sans"/>
              </a:rPr>
              <a:t>LÍMITES Y SIGUIENTES PASOS</a:t>
            </a:r>
          </a:p>
        </p:txBody>
      </p:sp>
      <p:sp>
        <p:nvSpPr>
          <p:cNvPr id="37" name="TextBox 36"/>
          <p:cNvSpPr txBox="1"/>
          <p:nvPr/>
        </p:nvSpPr>
        <p:spPr>
          <a:xfrm>
            <a:off x="1651000" y="4064000"/>
            <a:ext cx="10287000" cy="635000"/>
          </a:xfrm>
          <a:prstGeom prst="rect">
            <a:avLst/>
          </a:prstGeom>
          <a:noFill/>
        </p:spPr>
        <p:txBody>
          <a:bodyPr wrap="square" lIns="0" rIns="0" tIns="0" bIns="0" anchor="t"/>
          <a:lstStyle/>
          <a:p>
            <a:pPr algn="l">
              <a:lnSpc>
                <a:spcPct val="125000"/>
              </a:lnSpc>
            </a:pPr>
            <a:r>
              <a:rPr sz="3400" b="1">
                <a:solidFill>
                  <a:srgbClr val="8E8E94"/>
                </a:solidFill>
                <a:latin typeface="Open Sans"/>
              </a:rPr>
              <a:t>Límites de hoy</a:t>
            </a:r>
          </a:p>
        </p:txBody>
      </p:sp>
      <p:sp>
        <p:nvSpPr>
          <p:cNvPr id="38" name="TextBox 37"/>
          <p:cNvSpPr txBox="1"/>
          <p:nvPr/>
        </p:nvSpPr>
        <p:spPr>
          <a:xfrm>
            <a:off x="12446000" y="4064000"/>
            <a:ext cx="10287000" cy="635000"/>
          </a:xfrm>
          <a:prstGeom prst="rect">
            <a:avLst/>
          </a:prstGeom>
          <a:noFill/>
        </p:spPr>
        <p:txBody>
          <a:bodyPr wrap="square" lIns="0" rIns="0" tIns="0" bIns="0" anchor="t"/>
          <a:lstStyle/>
          <a:p>
            <a:pPr algn="l">
              <a:lnSpc>
                <a:spcPct val="125000"/>
              </a:lnSpc>
            </a:pPr>
            <a:r>
              <a:rPr sz="3400" b="1">
                <a:solidFill>
                  <a:srgbClr val="1E8C00"/>
                </a:solidFill>
                <a:latin typeface="Open Sans"/>
              </a:rPr>
              <a:t>Siguientes pasos</a:t>
            </a:r>
          </a:p>
        </p:txBody>
      </p:sp>
      <p:sp>
        <p:nvSpPr>
          <p:cNvPr id="39" name="Rounded Rectangle 38"/>
          <p:cNvSpPr/>
          <p:nvPr/>
        </p:nvSpPr>
        <p:spPr>
          <a:xfrm>
            <a:off x="1651000" y="49530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981200" y="5283200"/>
            <a:ext cx="9626600" cy="863600"/>
          </a:xfrm>
          <a:prstGeom prst="rect">
            <a:avLst/>
          </a:prstGeom>
          <a:noFill/>
        </p:spPr>
        <p:txBody>
          <a:bodyPr wrap="square" lIns="0" rIns="0" tIns="0" bIns="0" anchor="ctr"/>
          <a:lstStyle/>
          <a:p>
            <a:pPr algn="l">
              <a:lnSpc>
                <a:spcPct val="125000"/>
              </a:lnSpc>
            </a:pPr>
            <a:r>
              <a:rPr sz="3000" b="0">
                <a:solidFill>
                  <a:srgbClr val="111113"/>
                </a:solidFill>
                <a:latin typeface="Open Sans"/>
              </a:rPr>
              <a:t>La rúbrica la escribe el mismo modelo que crea el caso</a:t>
            </a:r>
          </a:p>
        </p:txBody>
      </p:sp>
      <p:sp>
        <p:nvSpPr>
          <p:cNvPr id="41" name="Rounded Rectangle 40"/>
          <p:cNvSpPr/>
          <p:nvPr/>
        </p:nvSpPr>
        <p:spPr>
          <a:xfrm>
            <a:off x="1651000" y="66802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981200" y="7010400"/>
            <a:ext cx="9626600" cy="863600"/>
          </a:xfrm>
          <a:prstGeom prst="rect">
            <a:avLst/>
          </a:prstGeom>
          <a:noFill/>
        </p:spPr>
        <p:txBody>
          <a:bodyPr wrap="square" lIns="0" rIns="0" tIns="0" bIns="0" anchor="ctr"/>
          <a:lstStyle/>
          <a:p>
            <a:pPr algn="l">
              <a:lnSpc>
                <a:spcPct val="125000"/>
              </a:lnSpc>
            </a:pPr>
            <a:r>
              <a:rPr sz="3000" b="0">
                <a:solidFill>
                  <a:srgbClr val="111113"/>
                </a:solidFill>
                <a:latin typeface="Open Sans"/>
              </a:rPr>
              <a:t>Sin búsqueda vectorial; referencias aún sin contenido</a:t>
            </a:r>
          </a:p>
        </p:txBody>
      </p:sp>
      <p:sp>
        <p:nvSpPr>
          <p:cNvPr id="43" name="Rounded Rectangle 42"/>
          <p:cNvSpPr/>
          <p:nvPr/>
        </p:nvSpPr>
        <p:spPr>
          <a:xfrm>
            <a:off x="1651000" y="84074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981200" y="8737600"/>
            <a:ext cx="9626600" cy="863600"/>
          </a:xfrm>
          <a:prstGeom prst="rect">
            <a:avLst/>
          </a:prstGeom>
          <a:noFill/>
        </p:spPr>
        <p:txBody>
          <a:bodyPr wrap="square" lIns="0" rIns="0" tIns="0" bIns="0" anchor="ctr"/>
          <a:lstStyle/>
          <a:p>
            <a:pPr algn="l">
              <a:lnSpc>
                <a:spcPct val="125000"/>
              </a:lnSpc>
            </a:pPr>
            <a:r>
              <a:rPr sz="3000" b="0">
                <a:solidFill>
                  <a:srgbClr val="111113"/>
                </a:solidFill>
                <a:latin typeface="Open Sans"/>
              </a:rPr>
              <a:t>La cuota gratuita limita el uso simultáneo</a:t>
            </a:r>
          </a:p>
        </p:txBody>
      </p:sp>
      <p:sp>
        <p:nvSpPr>
          <p:cNvPr id="45" name="Rounded Rectangle 44"/>
          <p:cNvSpPr/>
          <p:nvPr/>
        </p:nvSpPr>
        <p:spPr>
          <a:xfrm>
            <a:off x="12446000" y="4953000"/>
            <a:ext cx="10287000" cy="1524000"/>
          </a:xfrm>
          <a:prstGeom prst="roundRect">
            <a:avLst>
              <a:gd name="adj" fmla="val 16666"/>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2776200" y="5283200"/>
            <a:ext cx="9626600" cy="863600"/>
          </a:xfrm>
          <a:prstGeom prst="rect">
            <a:avLst/>
          </a:prstGeom>
          <a:noFill/>
        </p:spPr>
        <p:txBody>
          <a:bodyPr wrap="square" lIns="0" rIns="0" tIns="0" bIns="0" anchor="ctr"/>
          <a:lstStyle/>
          <a:p>
            <a:pPr algn="l">
              <a:lnSpc>
                <a:spcPct val="125000"/>
              </a:lnSpc>
            </a:pPr>
            <a:r>
              <a:rPr sz="3000" b="0">
                <a:solidFill>
                  <a:srgbClr val="FFFFFF"/>
                </a:solidFill>
                <a:latin typeface="Open Sans"/>
              </a:rPr>
              <a:t>Panel de expertos: validar y revisar casos</a:t>
            </a:r>
          </a:p>
        </p:txBody>
      </p:sp>
      <p:sp>
        <p:nvSpPr>
          <p:cNvPr id="47" name="Rounded Rectangle 46"/>
          <p:cNvSpPr/>
          <p:nvPr/>
        </p:nvSpPr>
        <p:spPr>
          <a:xfrm>
            <a:off x="12446000" y="6680200"/>
            <a:ext cx="10287000" cy="15240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776200" y="7010400"/>
            <a:ext cx="9626600" cy="863600"/>
          </a:xfrm>
          <a:prstGeom prst="rect">
            <a:avLst/>
          </a:prstGeom>
          <a:noFill/>
        </p:spPr>
        <p:txBody>
          <a:bodyPr wrap="square" lIns="0" rIns="0" tIns="0" bIns="0" anchor="ctr"/>
          <a:lstStyle/>
          <a:p>
            <a:pPr algn="l">
              <a:lnSpc>
                <a:spcPct val="125000"/>
              </a:lnSpc>
            </a:pPr>
            <a:r>
              <a:rPr sz="3000" b="0">
                <a:solidFill>
                  <a:srgbClr val="111113"/>
                </a:solidFill>
                <a:latin typeface="Open Sans"/>
              </a:rPr>
              <a:t>Pruebas con estudiantes de Medicina</a:t>
            </a:r>
          </a:p>
        </p:txBody>
      </p:sp>
      <p:sp>
        <p:nvSpPr>
          <p:cNvPr id="49" name="Rounded Rectangle 48"/>
          <p:cNvSpPr/>
          <p:nvPr/>
        </p:nvSpPr>
        <p:spPr>
          <a:xfrm>
            <a:off x="12446000" y="8407400"/>
            <a:ext cx="10287000" cy="15240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2776200" y="8737600"/>
            <a:ext cx="9626600" cy="863600"/>
          </a:xfrm>
          <a:prstGeom prst="rect">
            <a:avLst/>
          </a:prstGeom>
          <a:noFill/>
        </p:spPr>
        <p:txBody>
          <a:bodyPr wrap="square" lIns="0" rIns="0" tIns="0" bIns="0" anchor="ctr"/>
          <a:lstStyle/>
          <a:p>
            <a:pPr algn="l">
              <a:lnSpc>
                <a:spcPct val="125000"/>
              </a:lnSpc>
            </a:pPr>
            <a:r>
              <a:rPr sz="3000" b="0">
                <a:solidFill>
                  <a:srgbClr val="111113"/>
                </a:solidFill>
                <a:latin typeface="Open Sans"/>
              </a:rPr>
              <a:t>Futuro: otros sistemas y detección de sesgos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clerkship.png"/>
          <p:cNvPicPr>
            <a:picLocks noChangeAspect="1"/>
          </p:cNvPicPr>
          <p:nvPr/>
        </p:nvPicPr>
        <p:blipFill>
          <a:blip r:embed="rId3"/>
          <a:stretch>
            <a:fillRect/>
          </a:stretch>
        </p:blipFill>
        <p:spPr>
          <a:xfrm>
            <a:off x="11176000" y="2159000"/>
            <a:ext cx="2032000" cy="2032000"/>
          </a:xfrm>
          <a:prstGeom prst="rect">
            <a:avLst/>
          </a:prstGeom>
        </p:spPr>
      </p:pic>
      <p:sp>
        <p:nvSpPr>
          <p:cNvPr id="3" name="TextBox 2"/>
          <p:cNvSpPr txBox="1"/>
          <p:nvPr/>
        </p:nvSpPr>
        <p:spPr>
          <a:xfrm>
            <a:off x="4572000" y="4826000"/>
            <a:ext cx="15240000" cy="2032000"/>
          </a:xfrm>
          <a:prstGeom prst="rect">
            <a:avLst/>
          </a:prstGeom>
          <a:noFill/>
        </p:spPr>
        <p:txBody>
          <a:bodyPr wrap="square" lIns="0" rIns="0" tIns="0" bIns="0" anchor="t"/>
          <a:lstStyle/>
          <a:p>
            <a:pPr algn="ctr">
              <a:lnSpc>
                <a:spcPct val="125000"/>
              </a:lnSpc>
            </a:pPr>
            <a:r>
              <a:rPr sz="12800" b="1">
                <a:solidFill>
                  <a:srgbClr val="111113"/>
                </a:solidFill>
                <a:latin typeface="OpenSans-ExtraBold"/>
              </a:rPr>
              <a:t>Gracias</a:t>
            </a:r>
          </a:p>
        </p:txBody>
      </p:sp>
      <p:sp>
        <p:nvSpPr>
          <p:cNvPr id="4" name="TextBox 3"/>
          <p:cNvSpPr txBox="1"/>
          <p:nvPr/>
        </p:nvSpPr>
        <p:spPr>
          <a:xfrm>
            <a:off x="4572000" y="7112000"/>
            <a:ext cx="15240000" cy="889000"/>
          </a:xfrm>
          <a:prstGeom prst="rect">
            <a:avLst/>
          </a:prstGeom>
          <a:noFill/>
        </p:spPr>
        <p:txBody>
          <a:bodyPr wrap="square" lIns="0" rIns="0" tIns="0" bIns="0" anchor="t"/>
          <a:lstStyle/>
          <a:p>
            <a:pPr algn="ctr">
              <a:lnSpc>
                <a:spcPct val="125000"/>
              </a:lnSpc>
            </a:pPr>
            <a:r>
              <a:rPr sz="4800" b="0">
                <a:solidFill>
                  <a:srgbClr val="5F5F66"/>
                </a:solidFill>
                <a:latin typeface="Open Sans"/>
              </a:rPr>
              <a:t>¿Preguntas?</a:t>
            </a:r>
          </a:p>
        </p:txBody>
      </p:sp>
      <p:sp>
        <p:nvSpPr>
          <p:cNvPr id="5" name="Rectangle 4"/>
          <p:cNvSpPr/>
          <p:nvPr/>
        </p:nvSpPr>
        <p:spPr>
          <a:xfrm>
            <a:off x="11582400" y="8382000"/>
            <a:ext cx="1219200" cy="50800"/>
          </a:xfrm>
          <a:prstGeom prst="rect">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8763000"/>
            <a:ext cx="15240000" cy="762000"/>
          </a:xfrm>
          <a:prstGeom prst="rect">
            <a:avLst/>
          </a:prstGeom>
          <a:noFill/>
        </p:spPr>
        <p:txBody>
          <a:bodyPr wrap="square" lIns="0" rIns="0" tIns="0" bIns="0" anchor="t"/>
          <a:lstStyle/>
          <a:p>
            <a:pPr algn="ctr">
              <a:lnSpc>
                <a:spcPct val="125000"/>
              </a:lnSpc>
            </a:pPr>
            <a:r>
              <a:rPr sz="3600" b="1">
                <a:solidFill>
                  <a:srgbClr val="1E8C00"/>
                </a:solidFill>
                <a:latin typeface="Open Sans"/>
              </a:rPr>
              <a:t>www.clerk-ship.online</a:t>
            </a:r>
          </a:p>
        </p:txBody>
      </p:sp>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